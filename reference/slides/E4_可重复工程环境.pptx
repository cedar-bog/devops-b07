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2" autoAdjust="0"/>
    <p:restoredTop sz="94676" autoAdjust="0"/>
  </p:normalViewPr>
  <p:slideViewPr>
    <p:cSldViewPr snapToGrid="0" snapToObjects="1">
      <p:cViewPr varScale="1">
        <p:scale>
          <a:sx n="102" d="100"/>
          <a:sy n="102" d="100"/>
        </p:scale>
        <p:origin x="220" y="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是工程骨架阶段（阶段 1）的最后一步。E5 起进入论文复现，所有实验都在 E4 建立的环境中进行。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出处：实验里程碑表</a:t>
            </a:r>
            <a:r>
              <a:rPr dirty="0"/>
              <a:t> E4“共同建立 </a:t>
            </a:r>
            <a:r>
              <a:rPr dirty="0" err="1"/>
              <a:t>Docker、依赖固定、Secret、测试与一键命令</a:t>
            </a:r>
            <a:r>
              <a:rPr dirty="0"/>
              <a:t>”，</a:t>
            </a:r>
            <a:r>
              <a:rPr dirty="0" err="1"/>
              <a:t>最低验收证据“镜像</a:t>
            </a:r>
            <a:r>
              <a:rPr dirty="0"/>
              <a:t>/</a:t>
            </a:r>
            <a:r>
              <a:rPr dirty="0" err="1"/>
              <a:t>Compose、基线日志、无密钥泄露</a:t>
            </a:r>
            <a:r>
              <a:rPr dirty="0"/>
              <a:t>”；</a:t>
            </a:r>
            <a:r>
              <a:rPr dirty="0" err="1"/>
              <a:t>课程项目设计第九节</a:t>
            </a:r>
            <a:r>
              <a:rPr dirty="0"/>
              <a:t> Sprint 2“服务必须在其他同学机器运行”。</a:t>
            </a:r>
          </a:p>
          <a:p>
            <a:r>
              <a:rPr dirty="0"/>
              <a:t>E4 </a:t>
            </a:r>
            <a:r>
              <a:rPr dirty="0" err="1"/>
              <a:t>的对象是各组自己的服务仓库（A：BuildChecker，B：DRAFT</a:t>
            </a:r>
            <a:r>
              <a:rPr dirty="0"/>
              <a:t>），不是课程统一的实验镜像；E3 </a:t>
            </a:r>
            <a:r>
              <a:rPr dirty="0" err="1"/>
              <a:t>的样例只用来做冒烟测试</a:t>
            </a:r>
            <a:r>
              <a:rPr dirty="0"/>
              <a:t>。</a:t>
            </a:r>
          </a:p>
          <a:p>
            <a:r>
              <a:rPr dirty="0" err="1"/>
              <a:t>当堂做不完的部分可以课后继续完成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左边：里程碑表中 E5 复现、E6/E7 的 CI 门禁、E12 联调、E14 发布都依赖同一个环境。</a:t>
            </a:r>
          </a:p>
          <a:p>
            <a:r>
              <a:t>右边：DRAFT 论文引用 Cito 等人的研究，超过三分之一的 Dockerfile 构建失败；DRAFT 在 conductor 项目上失败，原因是 Debian 源信息变化导致 apt-get update 失败。</a:t>
            </a:r>
          </a:p>
          <a:p>
            <a:r>
              <a:t>引出本次的核心问题：怎样让别人、以后、换一台机器还能得到同样结果。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目录与课程项目设计附录 A 的建议仓库结构一致：services/&lt;服务名&gt;/ 放服务代码，fixtures/ 放测试样例。</a:t>
            </a:r>
          </a:p>
          <a:p>
            <a:r>
              <a:t>E4 只要求骨架：一个 CLI 入口（version、smoke 两个子命令）和几条单元测试；E5 在这里开始写复现脚本，E6 做成 MVP。</a:t>
            </a:r>
          </a:p>
          <a:p>
            <a:r>
              <a:t>B 组模板路径为 services/draft/，fixtures/draft/ 是 E3 的 Tiny Greeting 样例。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服务器由老师为每组购买并分配 SSH 登录，组员共用同一个账号。</a:t>
            </a:r>
          </a:p>
          <a:p>
            <a:r>
              <a:t>因为账号共用，git config --global 会被所有人共享，提交作者就分不清了。所以只在自己的克隆目录里设置（不加 --global）。</a:t>
            </a:r>
          </a:p>
          <a:p>
            <a:r>
              <a:t>个人贡献在评分中占 10%，按提交作者统计，因此统一用学号。user.email 如需关联代码托管平台账号，要与平台上绑定的邮箱一致。</a:t>
            </a:r>
          </a:p>
          <a:p>
            <a:r>
              <a:t>镜像名也取自 user.name（例如 e4-buildchecker:&lt;学号&gt;），组员在同一台服务器上互不覆盖。make doctor 会检查身份设置。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逐层讲：</a:t>
            </a:r>
          </a:p>
          <a:p>
            <a:r>
              <a:t>1 服务器：系统版本、CPU 架构、Docker 版本，用 make doctor 记录。</a:t>
            </a:r>
          </a:p>
          <a:p>
            <a:r>
              <a:t>2 基础镜像：用 digest 而不是标签。</a:t>
            </a:r>
          </a:p>
          <a:p>
            <a:r>
              <a:t>3 依赖：Python 包用带哈希的锁文件；apt 工具锁不住，就导出实际版本清单。</a:t>
            </a:r>
          </a:p>
          <a:p>
            <a:r>
              <a:t>4 运行参数：网络、CPU、内存、进程数、超时、用户，这些也会影响结果（对应平台需求 P-12）。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现场演示：docker buildx imagetools inspect python:3.13-slim，看到 Digest 一行。</a:t>
            </a:r>
          </a:p>
          <a:p>
            <a:r>
              <a:t>模板中的 digest 取自 E3 在 Colima 上的真实构建日志（evidence/docker/broken.log 的 resolve 行），已在 Docker Hub 确认它是多架构索引（含 amd64、arm64）。</a:t>
            </a:r>
          </a:p>
          <a:p>
            <a:r>
              <a:t>E2 契约规则 6：image_ref 要记录不可变 digest，只给 Dockerfile 地址不够。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系统包（apt）很难逐个锁版本：Debian 源会下架旧版本。做法是构建时导出实际版本到 /opt/toolchain.lock，make build 会把它取出来放进证据目录。</a:t>
            </a:r>
          </a:p>
          <a:p>
            <a:r>
              <a:t>Python 包：requirements-dev.in 只写直接依赖，make lock 用 uv 生成带哈希的 requirements-dev.lock，安装时 --require-hashes，哈希不符就安装失败。</a:t>
            </a:r>
          </a:p>
          <a:p>
            <a:r>
              <a:t>B 组的 docker 命令行从官方 docker:cli 镜像复制，同样按 digest 固定。</a:t>
            </a:r>
          </a:p>
          <a:p>
            <a:r>
              <a:t>被测项目：永远用完整 40 位 SHA，不用分支名。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对照 E3 的 Dockerfile.lab 讲差异。</a:t>
            </a:r>
          </a:p>
          <a:p>
            <a:r>
              <a:t>dpkg-query 这一行把镜像里实际装上的版本写进 /opt/toolchain.lock。</a:t>
            </a:r>
          </a:p>
          <a:p>
            <a:r>
              <a:t>“先建用户和 /app 再复制”：WORKDIR 以 root 身份创建 /app，COPY --chown 只改被复制的文件，不改 /app 本身；不先处理的话，以 app 用户运行时无法在 /app 下写文件。</a:t>
            </a:r>
          </a:p>
          <a:p>
            <a:r>
              <a:t>B 组的 Dockerfile 不装编译器和 strace，而是从 docker:cli 镜像复制 docker 命令行（见后面 B 组部分）。</a:t>
            </a:r>
          </a:p>
          <a:p>
            <a:r>
              <a:t>.dockerignore 排除 .env、work、.git，密钥和旧证据不会被 COPY 进镜像。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对应平台需求 P-12：任务要有超时和资源限制。超时由 Makefile 的 timeout 命令控制。</a:t>
            </a:r>
          </a:p>
          <a:p>
            <a:r>
              <a:t>A 组：检测只读本地文件，不需要网络；strace 依赖 ptrace，加 SYS_PTRACE 更稳妥。</a:t>
            </a:r>
          </a:p>
          <a:p>
            <a:r>
              <a:t>B 组：挂载 docker.sock、加入它的用户组，并通过 env_file 在运行时注入自己的 API Key。下一页专门讲为什么。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问题来源：DRAFT 要反复执行 docker build；课程项目设计 P-15 要求每个服务都能容器构建和部署。容器里默认没有 Docker 引擎，也没有权限自己启动一个。</a:t>
            </a:r>
          </a:p>
          <a:p>
            <a:r>
              <a:t>解决：把宿主机 Docker 的入口 /var/run/docker.sock 挂进容器。容器里只有 docker 命令行（客户端），它把请求发给宿主机的 Docker 引擎执行。</a:t>
            </a:r>
          </a:p>
          <a:p>
            <a:r>
              <a:t>论文：DRAFT 论文第 4.1 节只写了实验在一台 Ubuntu 22.04 服务器上进行，DRAFT 直接运行在服务器上，没有把自己容器化，也没有讨论这个问题。</a:t>
            </a:r>
          </a:p>
          <a:p>
            <a:r>
              <a:t>所以这是课程做法与论文做法的差异，B 组要写进 E5 的差异记录。</a:t>
            </a:r>
          </a:p>
          <a:p>
            <a:r>
              <a:t>另一种做法是 Docker in Docker（docker:dind，需要特权模式），配置更复杂，本课程不采用。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第一步：镜像里只复制客户端，多阶段构建 FROM docker:28.5.1-cli@sha256:… AS docker-cli，再 COPY --from=docker-cli /usr/local/bin/docker。</a:t>
            </a:r>
          </a:p>
          <a:p>
            <a:r>
              <a:t>第二步：compose.yaml 的 volumes 挂载 /var/run/docker.sock。</a:t>
            </a:r>
          </a:p>
          <a:p>
            <a:r>
              <a:t>第三步：docker.sock 属于宿主机的 docker 组，组号每台机器可能不同。Makefile 用 stat -c %g /var/run/docker.sock 取得组号，compose 用 group_add 加给容器里的 app 用户。直接运行 docker compose 而不经过 make，会提示先设置 DOCKER_GID。</a:t>
            </a:r>
          </a:p>
          <a:p>
            <a:r>
              <a:t>第四步：make shell 进入容器执行 docker version，能看到 Server 部分就说明打通了；make smoke 能拿到 Dockerfile.broken 的构建日志。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风险逐条讲：</a:t>
            </a:r>
          </a:p>
          <a:p>
            <a:r>
              <a:t>1 通过 docker.sock 可以启动特权容器、挂载宿主机任意目录，因此等同 root。</a:t>
            </a:r>
          </a:p>
          <a:p>
            <a:r>
              <a:t>2 可以删除服务器上任何镜像和容器，包括组员的。</a:t>
            </a:r>
          </a:p>
          <a:p>
            <a:r>
              <a:t>3 compose 中的 cpus、mem_limit 只限制 DRAFT 容器本身；它让宿主机执行的 docker build 不受这些限制，镜像和构建缓存占用宿主机磁盘。</a:t>
            </a:r>
          </a:p>
          <a:p>
            <a:r>
              <a:t>4 被构建项目的 Dockerfile 如果是恶意的，影响的是宿主机。</a:t>
            </a:r>
          </a:p>
          <a:p>
            <a:r>
              <a:t>5 在容器里执行 docker run -v 时，路径是宿主机上的路径，不是容器里的路径。</a:t>
            </a:r>
          </a:p>
          <a:p>
            <a:r>
              <a:t>本课程的约束：每组独占一台服务器，风险只在本组内；只构建课程指定的项目；构建设置超时；E6 起每次构建用唯一镜像名并及时清理；安全组不开放 2375/2376。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课程不提供统一的 LLM API，后面 DRAFT、MDFixer 需要时各组使用自己的 API Key，今天先把规则定下来。</a:t>
            </a:r>
          </a:p>
          <a:p>
            <a:r>
              <a:t>ARG 和 ENV 的值会留在镜像元数据或历史里，docker history 就能看到。</a:t>
            </a:r>
          </a:p>
          <a:p>
            <a:r>
              <a:t>构建阶段确实需要密钥时用 BuildKit 的 --secret，它不会进入镜像层。</a:t>
            </a:r>
          </a:p>
          <a:p>
            <a:r>
              <a:t>服务器账号是组员共用的，.env 放在自己的工作目录并设为 600 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现场演示：在一个临时仓库里 git add 一个带假 Key 的 .env，运行 make scan 看它报错，然后恢复。</a:t>
            </a:r>
          </a:p>
          <a:p>
            <a:r>
              <a:t>强调：Key 一旦推送到远端，就要当作已经泄露，第一步是到服务商处作废并重新申请，而不是改历史。</a:t>
            </a:r>
          </a:p>
          <a:p>
            <a:r>
              <a:t>secret_scan.py 输出只显示前 4 位，避免检查本身再泄露一次。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一键命令的意义：别人不需要读懂所有细节，也能用同样的步骤得到同样的证据。</a:t>
            </a:r>
          </a:p>
          <a:p>
            <a:r>
              <a:t>make test 跑的是本组自己的单元测试（pytest），不是 E3 的脚本；E5 之后每写一个功能就补测试。</a:t>
            </a:r>
          </a:p>
          <a:p>
            <a:r>
              <a:t>make shell 进入服务容器，并把仓库的 work/ 挂到容器的 /app/work，E5 在容器里保存的记录退出后仍然保留。</a:t>
            </a:r>
          </a:p>
          <a:p>
            <a:r>
              <a:t>make lock：修改 requirements-dev.in 后重新生成带哈希的锁文件。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组：smoke 把 md-rd 样例复制到临时目录，用 strace 跟踪一次 make，只检查“能看到 config.h 被打开”。按进程归属、与 make -p 比较，是 E5 的内容。</a:t>
            </a:r>
          </a:p>
          <a:p>
            <a:r>
              <a:t>B 组：smoke 在容器里通过宿主机 Docker 构建 Dockerfile.broken。它应该失败（基础镜像里没有 make），检查的是“能构建、能拿到完整失败日志和退出码”。错误定位、生成候选是 E5 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第二步：组长把 E4 实验包中对应模板（A-buildchecker 或 B-draft）的内容复制到本组仓库根目录并提交，组员再各自克隆。</a:t>
            </a:r>
          </a:p>
          <a:p>
            <a:r>
              <a:t>第三步：记录基础镜像 digest（build.log 的 resolve 行）与镜像 ID。</a:t>
            </a:r>
          </a:p>
          <a:p>
            <a:r>
              <a:t>第五步：在临时分支或临时目录放一个假 Key，确认 make scan 能报出，然后删除。</a:t>
            </a:r>
          </a:p>
          <a:p>
            <a:r>
              <a:t>第六步：镜像 ID 不同是可能的（构建时间不同），要能用 toolchain.lock 说明工具版本一致。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提交方式沿用 E2/E3 的约定：仓库地址 + 提交 SHA + 证据目录。work/ 默认不提交，用 git add -f 挑选需要的证据目录。</a:t>
            </a:r>
          </a:p>
          <a:p>
            <a:r>
              <a:t>评分权重和截止时间以教师发布为准。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相互检查：相邻两组交换仓库地址，只看 README 尝试重跑，并检查提交作者是否都是学号。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Ubuntu 仓库自带的 docker.io / docker-compose-v2 足够本课程使用；需要 Docker 官方版本时按官方文档替换。</a:t>
            </a:r>
          </a:p>
          <a:p>
            <a:r>
              <a:t>国内服务器访问 Docker Hub 通常很慢，需要配置镜像加速。</a:t>
            </a:r>
          </a:p>
          <a:p>
            <a:r>
              <a:t>脚本会把当前登录账号加入 docker 组；docker 组的权限基本等同 root。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A-buildchecker 与 B-draft 结构相同，区别在服务代码、Dockerfile 与 compose。</a:t>
            </a:r>
          </a:p>
          <a:p>
            <a:r>
              <a:t>fixtures 中的样例直接取自 E3 实验包，只保留源码，删除了 E3 包里残留的本机编译产物。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 组容器内 permission denied：通常是直接运行了 docker compose 而没有经过 make，DOCKER_GID 没有设置。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/>
          <p:cNvPicPr>
            <a:picLocks noChangeAspect="1"/>
          </p:cNvPicPr>
          <p:nvPr/>
        </p:nvPicPr>
        <p:blipFill rotWithShape="1">
          <a:blip r:embed="rId2"/>
          <a:srcRect r="39086"/>
          <a:stretch>
            <a:fillRect/>
          </a:stretch>
        </p:blipFill>
        <p:spPr>
          <a:xfrm>
            <a:off x="-268605" y="-464820"/>
            <a:ext cx="2005965" cy="217551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marL="0" marR="0" algn="ctr" defTabSz="914400">
              <a:lnSpc>
                <a:spcPct val="100000"/>
              </a:lnSpc>
              <a:buNone/>
              <a:defRPr sz="6000" b="1" i="0" u="none" kern="1200" cap="none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2615" y="-1282700"/>
            <a:ext cx="4442460" cy="4099560"/>
          </a:xfrm>
          <a:prstGeom prst="rect">
            <a:avLst/>
          </a:prstGeom>
        </p:spPr>
      </p:pic>
      <p:pic>
        <p:nvPicPr>
          <p:cNvPr id="30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51230" y="3771900"/>
            <a:ext cx="3503930" cy="3232785"/>
          </a:xfrm>
          <a:prstGeom prst="rect">
            <a:avLst/>
          </a:prstGeom>
        </p:spPr>
      </p:pic>
      <p:pic>
        <p:nvPicPr>
          <p:cNvPr id="31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970" y="5332730"/>
            <a:ext cx="4865370" cy="1885950"/>
          </a:xfrm>
          <a:prstGeom prst="rect">
            <a:avLst/>
          </a:prstGeom>
        </p:spPr>
      </p:pic>
      <p:pic>
        <p:nvPicPr>
          <p:cNvPr id="32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907530" y="5332730"/>
            <a:ext cx="4865370" cy="1885950"/>
          </a:xfrm>
          <a:prstGeom prst="rect">
            <a:avLst/>
          </a:prstGeom>
        </p:spPr>
      </p:pic>
      <p:pic>
        <p:nvPicPr>
          <p:cNvPr id="33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988560"/>
            <a:ext cx="12233910" cy="1869440"/>
          </a:xfrm>
          <a:prstGeom prst="rect">
            <a:avLst/>
          </a:prstGeom>
        </p:spPr>
      </p:pic>
      <p:pic>
        <p:nvPicPr>
          <p:cNvPr id="34" name="图片 3"/>
          <p:cNvPicPr>
            <a:picLocks noChangeAspect="1"/>
          </p:cNvPicPr>
          <p:nvPr/>
        </p:nvPicPr>
        <p:blipFill rotWithShape="1">
          <a:blip r:embed="rId7"/>
          <a:srcRect l="16598" r="41371" b="32186"/>
          <a:stretch>
            <a:fillRect/>
          </a:stretch>
        </p:blipFill>
        <p:spPr>
          <a:xfrm>
            <a:off x="5102455" y="-988999"/>
            <a:ext cx="2341396" cy="2408268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1333500" y="2943225"/>
            <a:ext cx="9525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E4 可重复工程环境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524250" y="4038600"/>
            <a:ext cx="5143500" cy="12941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 dirty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DevOps </a:t>
            </a:r>
            <a:r>
              <a:rPr sz="2025" b="0" dirty="0" err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教学实验</a:t>
            </a:r>
            <a:endParaRPr sz="2025" b="0" dirty="0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dirty="0">
                <a:latin typeface="微软雅黑"/>
                <a:ea typeface="微软雅黑"/>
                <a:cs typeface="微软雅黑"/>
                <a:sym typeface="+mn-ea"/>
              </a:rPr>
              <a:t>教师：吕骏</a:t>
            </a:r>
            <a:endParaRPr lang="zh-CN" altLang="en-US" dirty="0">
              <a:solidFill>
                <a:srgbClr val="B88F4D"/>
              </a:solidFill>
              <a:latin typeface="微软雅黑" charset="-122"/>
              <a:ea typeface="微软雅黑" charset="-122"/>
              <a:sym typeface="+mn-ea"/>
            </a:endParaRPr>
          </a:p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2025" b="0" dirty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助教：刘泽楷</a:t>
            </a:r>
            <a:endParaRPr lang="zh-CN" altLang="en-US" sz="2025" b="0" dirty="0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本次实验做什么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是工程骨架的最后一步：让本组的服务仓库在任何组员手里都能一键构建、测试、留证据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3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本次目标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3520440"/>
            <a:ext cx="4841748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本组服务仓库可重复构建</a:t>
            </a:r>
            <a:endParaRPr sz="18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600"/>
              </a:spcAft>
            </a:pP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一条命令完成构建、测试、留证据</a:t>
            </a:r>
            <a:endParaRPr sz="18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600"/>
              </a:spcAft>
            </a:pPr>
            <a:r>
              <a:rPr lang="zh-CN" altLang="en-US" sz="18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密钥不进仓库、镜像和日志</a:t>
            </a: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E5—E14 </a:t>
            </a: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都在这个环境中进行</a:t>
            </a:r>
            <a:endParaRPr sz="18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15100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1132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最低交付（实验表）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1132" y="3520440"/>
            <a:ext cx="4841748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服务镜像、Compose</a:t>
            </a:r>
            <a:r>
              <a:rPr sz="18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与构建日志</a:t>
            </a:r>
            <a:endParaRPr sz="18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600"/>
              </a:spcAft>
            </a:pP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依赖锁文件与工具版本清单</a:t>
            </a:r>
            <a:endParaRPr sz="18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600"/>
              </a:spcAft>
            </a:pP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单元测试与冒烟测试日志</a:t>
            </a:r>
            <a:endParaRPr sz="18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600"/>
              </a:spcAft>
            </a:pPr>
            <a:r>
              <a:rPr lang="zh-CN" altLang="en-US" sz="18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密钥检查通过的记录</a:t>
            </a:r>
          </a:p>
          <a:p>
            <a:pPr algn="l">
              <a:spcAft>
                <a:spcPts val="600"/>
              </a:spcAft>
            </a:pP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组员重跑的对照结果</a:t>
            </a:r>
            <a:endParaRPr sz="18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可重复环境</a:t>
            </a:r>
            <a:endParaRPr sz="2700" b="1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后面每个实验都要在“别人的机器、以后的时间”得到同样结果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3" y="2926080"/>
            <a:ext cx="4841748" cy="4154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dirty="0" err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后面每一步都在</a:t>
            </a:r>
            <a:r>
              <a:rPr lang="zh-CN" altLang="en-US" sz="2100" b="1" dirty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环境</a:t>
            </a:r>
            <a:r>
              <a:rPr sz="2100" b="1" dirty="0" err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里跑</a:t>
            </a:r>
            <a:endParaRPr sz="2100" b="1" dirty="0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520440"/>
            <a:ext cx="4841748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E5：在容器里跟踪构建、执行构建</a:t>
            </a: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E6—E7：MVP、单元测试、CI </a:t>
            </a: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门禁</a:t>
            </a:r>
            <a:endParaRPr sz="18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E12：A/B </a:t>
            </a: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交换真实产物联调</a:t>
            </a:r>
            <a:endParaRPr sz="18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E14：发布候选版本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6515100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1132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dirty="0" err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论文里的教训</a:t>
            </a:r>
            <a:endParaRPr sz="2100" b="1" dirty="0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71132" y="3520440"/>
            <a:ext cx="4405885" cy="143116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超过</a:t>
            </a:r>
            <a:r>
              <a:rPr sz="18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1/3 的 </a:t>
            </a: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Dockerfile</a:t>
            </a:r>
            <a:r>
              <a:rPr sz="18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构建失败</a:t>
            </a:r>
            <a:endParaRPr sz="18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DRAFT </a:t>
            </a: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失败案例：apt</a:t>
            </a:r>
            <a:r>
              <a:rPr sz="18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源信息变化</a:t>
            </a:r>
            <a:endParaRPr sz="18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600"/>
              </a:spcAft>
            </a:pP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同一</a:t>
            </a:r>
            <a:r>
              <a:rPr sz="18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commit </a:t>
            </a: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换环境，依赖图可能不同</a:t>
            </a:r>
            <a:endParaRPr sz="18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600"/>
              </a:spcAft>
            </a:pPr>
            <a:r>
              <a:rPr sz="18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课程要求：服务能在其他同学机器运行</a:t>
            </a:r>
            <a:endParaRPr sz="18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E4 做完后，仓库是什么样子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A、B 两组各有一份模板；组长把模板放进本组仓库，此后在 services/ 下继续开发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4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587752"/>
            <a:ext cx="6949440" cy="356616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752344"/>
            <a:ext cx="6629400" cy="3291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本组仓库/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services/buildchecker/     # B 组：services/draft/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Dockerfile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buildchecker/            # 服务代码：cli.py、smoke.py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tests/                   # 单元测试（pytest）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fixtures/md-rd/            # E3 样例，用于冒烟测试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compose.yaml               # 运行限制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Makefile                   # 一键命令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requirements-dev.in / .lock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.env.example  .gitignore  .dockerignore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scripts/doctor.py  secret_scan.py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work/&lt;时间&gt;/               # 每次运行的证据，不进仓库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2679192"/>
            <a:ext cx="372160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3364992"/>
            <a:ext cx="3721608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结构与课程项目设计附录 A 一致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E4 只建骨架：CLI + 单元测试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E3 样例只做冒烟测试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work/ 存证据，挑选后再提交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服务器与提交身份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每组一台服务器、一个共用登录账号；每人一个工作目录，提交身份统一用学号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587752"/>
            <a:ext cx="6839712" cy="356616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752344"/>
            <a:ext cx="6519672" cy="3291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# 每人一个目录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mkdir -p ~/&lt;学号&gt; &amp;&amp; cd ~/&lt;学号&gt;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git clone &lt;本组仓库地址&gt;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cd &lt;仓库&gt;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350" b="0">
              <a:solidFill>
                <a:srgbClr val="1C2740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# 只对本仓库生效，不要加 --global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git config user.name  "&lt;学号&gt;"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git config user.email "&lt;学号邮箱&gt;"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350" b="0">
              <a:solidFill>
                <a:srgbClr val="1C2740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# 检查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git config user.name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make doctor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7264" y="2679192"/>
            <a:ext cx="383133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7264" y="3364992"/>
            <a:ext cx="3831335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登录账号是组员共用的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--global 会被所有人共享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提交作者统一为学号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镜像名带学号，互不覆盖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个人贡献占评分 10%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可重复要固定哪四层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从外到内，每一层都要留下记录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2798063"/>
            <a:ext cx="2475738" cy="2103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962655"/>
            <a:ext cx="225628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服务器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11295"/>
            <a:ext cx="2256282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系统与架构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 版本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→ env.json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51810" y="3849623"/>
            <a:ext cx="292608" cy="0"/>
          </a:xfrm>
          <a:prstGeom prst="line">
            <a:avLst/>
          </a:prstGeom>
          <a:ln w="25400">
            <a:solidFill>
              <a:srgbClr val="BD8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390138" y="2798063"/>
            <a:ext cx="2475738" cy="2103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9865" y="2962655"/>
            <a:ext cx="225628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基础镜像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9865" y="3511295"/>
            <a:ext cx="2256282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标签换成 digest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升级只改一行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→ build.log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11596" y="3849623"/>
            <a:ext cx="292608" cy="0"/>
          </a:xfrm>
          <a:prstGeom prst="line">
            <a:avLst/>
          </a:prstGeom>
          <a:ln w="25400">
            <a:solidFill>
              <a:srgbClr val="BD8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249924" y="2798063"/>
            <a:ext cx="2475738" cy="2103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9652" y="2962655"/>
            <a:ext cx="225628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依赖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9652" y="3511295"/>
            <a:ext cx="2256282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锁文件 + 哈希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工具版本清单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→ toolchain.lock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1382" y="3849623"/>
            <a:ext cx="292608" cy="0"/>
          </a:xfrm>
          <a:prstGeom prst="line">
            <a:avLst/>
          </a:prstGeom>
          <a:ln w="25400">
            <a:solidFill>
              <a:srgbClr val="BD8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109710" y="2798063"/>
            <a:ext cx="2475738" cy="2103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9438" y="2962655"/>
            <a:ext cx="225628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运行参数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9438" y="3511295"/>
            <a:ext cx="2256282" cy="9079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资源、网络、用户</a:t>
            </a:r>
            <a:endParaRPr sz="16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Aft>
                <a:spcPts val="300"/>
              </a:spcAft>
            </a:pPr>
            <a:r>
              <a:rPr sz="16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超时</a:t>
            </a:r>
            <a:endParaRPr sz="16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Aft>
                <a:spcPts val="300"/>
              </a:spcAft>
            </a:pPr>
            <a:r>
              <a:rPr sz="16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→ </a:t>
            </a:r>
            <a:r>
              <a:rPr sz="16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compose.yaml</a:t>
            </a:r>
            <a:endParaRPr sz="16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8952" y="5257800"/>
            <a:ext cx="110550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交付：</a:t>
            </a: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别人拿到 </a:t>
            </a: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同一个提交 SHA + 同一条命令</a:t>
            </a: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，得到同样的测试和冒烟结果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依赖固定：标签不等于版本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1876" y="1823914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标签可以被重新指向；digest 由镜像内容计算，内容变了 digest 就变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7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587752"/>
            <a:ext cx="6839712" cy="356616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752344"/>
            <a:ext cx="6519672" cy="3291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# E3：标签，明天可能指向另一个镜像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FROM python:3.13-slim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350" b="0">
              <a:solidFill>
                <a:srgbClr val="1C2740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# E4：按内容摘要固定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ARG BASE_IMAGE=python:3.13-slim@sha256:f82c…cbcd74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FROM ${BASE_IMAGE}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350" b="0">
              <a:solidFill>
                <a:srgbClr val="1C2740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# 查询某个标签当前对应的 digest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docker buildx imagetools inspect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python:3.13-slim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7264" y="2679192"/>
            <a:ext cx="383133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7264" y="3364992"/>
            <a:ext cx="3831335" cy="144655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标签是可变指针</a:t>
            </a:r>
            <a:endParaRPr sz="17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digest </a:t>
            </a:r>
            <a:r>
              <a:rPr sz="17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来自</a:t>
            </a:r>
            <a:r>
              <a:rPr sz="17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E3 </a:t>
            </a:r>
            <a:r>
              <a:rPr sz="17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的真实构建日志</a:t>
            </a:r>
            <a:endParaRPr sz="17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</a:pPr>
            <a:r>
              <a:rPr sz="17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升级只改一行并写进提交说明</a:t>
            </a:r>
            <a:endParaRPr sz="1700" b="0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对外交付记录镜像digest（E2 </a:t>
            </a:r>
            <a:r>
              <a:rPr sz="1700" b="0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规则</a:t>
            </a:r>
            <a:r>
              <a:rPr sz="1700" b="0" dirty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6）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各类依赖分别怎么固定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能锁定的就锁定；锁不住的，至少把实际版本导出成清单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2651760"/>
          <a:ext cx="10972800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例子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固定方式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留下的证据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基础镜像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python:3.13-slim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@sha256 digest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build.log 的 resolve 行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系统工具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gcc、make、strace、git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构建时导出实际版本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toolchain.lock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包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pytest 及其依赖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锁文件 + 哈希，--require-hashes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requirements-dev.lock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 命令行（B 组）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docker:28.5.1-cli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@sha256 digest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Dockerfile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被测项目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论文项目仓库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 40 位 commit SHA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复现说明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服务 Dockerfile（A 组示例）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固定 digest、导出版本清单、按哈希安装、非 root 运行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587752"/>
            <a:ext cx="6839712" cy="365760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752344"/>
            <a:ext cx="6519672" cy="3383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ARG BASE_IMAGE=python:3.13-slim@sha256:f82c…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FROM ${BASE_IMAGE}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RUN apt-get update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&amp;&amp; apt-get install -y --no-install-recommends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  gcc make libc6-dev strace git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&amp;&amp; rm -rf /var/lib/apt/lists/*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&amp;&amp; dpkg-query -W -f='${Package}=${Version}\n'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  gcc make libc6-dev strace git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  &gt; /opt/toolchain.lock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COPY requirements-dev.lock /tmp/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RUN pip install --require-hashes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  -r /tmp/requirements-dev.lock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RUN useradd --uid 10001 app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&amp;&amp; install -d -o app -g app /app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COPY --chown=app:app services/buildchecker/ /app/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USER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7264" y="2679192"/>
            <a:ext cx="383133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7264" y="3364992"/>
            <a:ext cx="3831335" cy="2834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基础镜像按 digest 固定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构建时导出工具实际版本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Python 包按哈希安装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先建 /app 再复制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以普通用户运行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Compose：A 组与 B 组的差别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同样限制资源；A 组要 strace，B 组要使用宿主机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587752"/>
            <a:ext cx="5349240" cy="361188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679192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A 组 compose.yaml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108960"/>
            <a:ext cx="5029200" cy="3017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services: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buildchecker: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image: e4-buildchecker:${STUDENT_ID}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network_mode: none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cpus: 2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mem_limit: 1g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pids_limit: 256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cap_add: [SYS_PTRACE]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security_opt: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  - no-new-privileges:true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2587752"/>
            <a:ext cx="5413248" cy="361188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2" y="2679192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B 组 compose.yaml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3108960"/>
            <a:ext cx="5120640" cy="3017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services: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draft: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image: e4-draft:${STUDENT_ID}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volumes: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  - /var/run/docker.sock: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      /var/run/docker.sock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group_add: ["${DOCKER_GID}"]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env_file: .env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cpus: 2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mem_limit: 1g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pids_limit: 256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组：为什么要挂载 docker.sock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DRAFT 的工作就是执行 docker build；而课程要求服务本身也运行在容器里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788920"/>
            <a:ext cx="301752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7007" y="2953512"/>
            <a:ext cx="27980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DRAFT 容器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3502152"/>
            <a:ext cx="2798064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只有 docker 命令行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没有 Docker 引擎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3657600"/>
            <a:ext cx="548640" cy="0"/>
          </a:xfrm>
          <a:prstGeom prst="line">
            <a:avLst/>
          </a:prstGeom>
          <a:ln w="25400">
            <a:solidFill>
              <a:srgbClr val="BD8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754880" y="2788920"/>
            <a:ext cx="301752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4608" y="2953512"/>
            <a:ext cx="27980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docker.sock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3502152"/>
            <a:ext cx="2798064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从宿主机挂载进来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请求经它转发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8120" y="3657600"/>
            <a:ext cx="548639" cy="0"/>
          </a:xfrm>
          <a:prstGeom prst="line">
            <a:avLst/>
          </a:prstGeom>
          <a:ln w="25400">
            <a:solidFill>
              <a:srgbClr val="BD8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412480" y="2788920"/>
            <a:ext cx="301752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22207" y="2953512"/>
            <a:ext cx="27980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宿主机 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7" y="3502152"/>
            <a:ext cx="2798064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真正执行 docker build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镜像、缓存都在宿主机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937760"/>
            <a:ext cx="1106424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论文：</a:t>
            </a: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DRAFT 直接运行在 Ubuntu 22.04 服务器上，不存在这个问题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课程：</a:t>
            </a: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服务要容器化（P-15），因此需要挂载；这一条写进 E5 差异记录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组：挂载步骤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模板已经写好；上课时逐项找到对应的写法并验证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651760"/>
            <a:ext cx="1956816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651760"/>
            <a:ext cx="1956816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651760"/>
            <a:ext cx="854964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Dockerfile：从 docker:cli 镜像复制 docker 命令行（只有客户端）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3346704"/>
            <a:ext cx="1956816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3346704"/>
            <a:ext cx="1956816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第二步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3346704"/>
            <a:ext cx="854964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compose.yaml：挂载 /var/run/docker.sock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4041648"/>
            <a:ext cx="1956816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4041648"/>
            <a:ext cx="1956816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第三步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4041648"/>
            <a:ext cx="854964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group_add：加入 docker.sock 的组号（make 自动取得）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4736592"/>
            <a:ext cx="1956816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4736592"/>
            <a:ext cx="1956816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第四步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736592"/>
            <a:ext cx="854964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shell 后 docker version 能看到 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5431536"/>
            <a:ext cx="1956816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5431536"/>
            <a:ext cx="1956816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第五步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5431536"/>
            <a:ext cx="854964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smoke：容器内构建 Dockerfile.broken，拿到日志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组：挂载 docker.sock 的风险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能访问 docker.sock 就等于拥有宿主机 root 权限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697480"/>
            <a:ext cx="529894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3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3520440"/>
            <a:ext cx="4841748" cy="2423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访问 docker.sock ≈ 宿主机 root</a:t>
            </a:r>
          </a:p>
          <a:p>
            <a:pPr algn="l">
              <a:spcAft>
                <a:spcPts val="600"/>
              </a:spcAft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可删除任意镜像和容器</a:t>
            </a:r>
          </a:p>
          <a:p>
            <a:pPr algn="l">
              <a:spcAft>
                <a:spcPts val="600"/>
              </a:spcAft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容器的资源限制管不到构建</a:t>
            </a:r>
          </a:p>
          <a:p>
            <a:pPr algn="l">
              <a:spcAft>
                <a:spcPts val="600"/>
              </a:spcAft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恶意 Dockerfile 影响宿主机</a:t>
            </a:r>
          </a:p>
          <a:p>
            <a:pPr algn="l">
              <a:spcAft>
                <a:spcPts val="600"/>
              </a:spcAft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-v 的路径指宿主机路径</a:t>
            </a:r>
          </a:p>
        </p:txBody>
      </p:sp>
      <p:sp>
        <p:nvSpPr>
          <p:cNvPr id="9" name="Rectangle 8"/>
          <p:cNvSpPr/>
          <p:nvPr/>
        </p:nvSpPr>
        <p:spPr>
          <a:xfrm>
            <a:off x="6515100" y="2697480"/>
            <a:ext cx="529894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1132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本课程的约束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1132" y="3520440"/>
            <a:ext cx="4841748" cy="2423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每组独占一台服务器</a:t>
            </a:r>
          </a:p>
          <a:p>
            <a:pPr algn="l">
              <a:spcAft>
                <a:spcPts val="600"/>
              </a:spcAft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只构建课程指定的项目</a:t>
            </a:r>
          </a:p>
          <a:p>
            <a:pPr algn="l">
              <a:spcAft>
                <a:spcPts val="600"/>
              </a:spcAft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构建设置超时，及时清理镜像</a:t>
            </a:r>
          </a:p>
          <a:p>
            <a:pPr algn="l">
              <a:spcAft>
                <a:spcPts val="600"/>
              </a:spcAft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不开放 2375/2376 端口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密钥放在哪里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课程不提供 LLM API，需要时使用自己的 Key；GitHub Token 同样是密钥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3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可以这样做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3520440"/>
            <a:ext cx="4841748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.env 文件，权限 600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compose 的 env_file 运行时注入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CI 平台的 Secret 变量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构建期用 docker build --secret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15100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1132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禁止这样做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1132" y="3520440"/>
            <a:ext cx="4841748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写进源码、Dockerfile 的 ENV/ARG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把 .env 提交到仓库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打印到日志、截图、AI_USAGE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COPY 进镜像（docker history 可见）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密钥会从哪里泄露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仓库、Git 历史、镜像层三个地方都要查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587752"/>
            <a:ext cx="6839712" cy="356616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752344"/>
            <a:ext cx="6519672" cy="3291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# 1. 仓库：.env 有没有被跟踪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git ls-files | grep -E '(^|/)\.env$'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350" b="0">
              <a:solidFill>
                <a:srgbClr val="1C2740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# 2. 历史：删掉文件，历史里还在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git log --all -p | grep -E 'sk-[A-Za-z0-9]{20,}'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350" b="0">
              <a:solidFill>
                <a:srgbClr val="1C2740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# 3. 镜像：每一层的构建命令都看得到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docker history --no-trunc &lt;镜像名&gt;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350" b="0">
              <a:solidFill>
                <a:srgbClr val="1C2740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# 一次检查三处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make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7264" y="2679192"/>
            <a:ext cx="383133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7264" y="3364992"/>
            <a:ext cx="3831335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泄露后先作废 Key，再清理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删除 commit 收不回已推送内容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ARG 传入的值会留在镜像历史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输出只显示前 4 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一键命令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每次运行生成新的 work/&lt;时间&gt;/ 证据目录，不覆盖旧记录；make all 依次执行五步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651760"/>
            <a:ext cx="2103120" cy="58521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651760"/>
            <a:ext cx="21031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BD8B2C"/>
                </a:solidFill>
                <a:latin typeface="Consolas"/>
                <a:ea typeface="微软雅黑"/>
                <a:cs typeface="Consolas"/>
              </a:rPr>
              <a:t>make doctor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2112" y="2651760"/>
            <a:ext cx="8403336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服务器与 Git 身份自检 → env.json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3364991"/>
            <a:ext cx="2103120" cy="58521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3364991"/>
            <a:ext cx="21031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BD8B2C"/>
                </a:solidFill>
                <a:latin typeface="Consolas"/>
                <a:ea typeface="微软雅黑"/>
                <a:cs typeface="Consolas"/>
              </a:rPr>
              <a:t>make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3364991"/>
            <a:ext cx="8403336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构建服务镜像 → build.log、image.json、toolchain.lock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4078224"/>
            <a:ext cx="2103120" cy="58521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4078224"/>
            <a:ext cx="21031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BD8B2C"/>
                </a:solidFill>
                <a:latin typeface="Consolas"/>
                <a:ea typeface="微软雅黑"/>
                <a:cs typeface="Consolas"/>
              </a:rPr>
              <a:t>make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4078224"/>
            <a:ext cx="8403336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容器内运行本组单元测试 → test.log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4791456"/>
            <a:ext cx="2103120" cy="58521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4791456"/>
            <a:ext cx="21031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BD8B2C"/>
                </a:solidFill>
                <a:latin typeface="Consolas"/>
                <a:ea typeface="微软雅黑"/>
                <a:cs typeface="Consolas"/>
              </a:rPr>
              <a:t>make smoke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2112" y="4791456"/>
            <a:ext cx="8403336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用 E3 样例做冒烟测试 → smoke.json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5504688"/>
            <a:ext cx="2103120" cy="58521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5504688"/>
            <a:ext cx="21031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BD8B2C"/>
                </a:solidFill>
                <a:latin typeface="Consolas"/>
                <a:ea typeface="微软雅黑"/>
                <a:cs typeface="Consolas"/>
              </a:rPr>
              <a:t>make scan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5504688"/>
            <a:ext cx="8403336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工作区、Git 历史、镜像的密钥检查 → secret-scan.txt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冒烟测试：E5 的起点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冒烟测试只确认环境可用；它的输出正好是 E5 复现的输入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3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A 组：make smoke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3520440"/>
            <a:ext cx="4841748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容器内 strace 跟踪 md-rd 的 make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看到 openat(… "config.h" …)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app 输出 1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→ E5 从这份跟踪记录开始</a:t>
            </a:r>
          </a:p>
        </p:txBody>
      </p:sp>
      <p:sp>
        <p:nvSpPr>
          <p:cNvPr id="9" name="Rectangle 8"/>
          <p:cNvSpPr/>
          <p:nvPr/>
        </p:nvSpPr>
        <p:spPr>
          <a:xfrm>
            <a:off x="6515100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1132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B 组：make smoke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1132" y="3520440"/>
            <a:ext cx="4841748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容器内构建 Dockerfile.broken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构建失败，退出码非 0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日志含 make: not found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→ E5 从这份失败日志开始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dirty="0" err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任务</a:t>
            </a:r>
            <a:endParaRPr sz="2700" b="1" dirty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按顺序完成；当堂没做完的，课后继续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651760"/>
            <a:ext cx="1956816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651760"/>
            <a:ext cx="1956816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651760"/>
            <a:ext cx="854964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登录服务器，建自己的目录，设置学号身份，make doctor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3273552"/>
            <a:ext cx="1956816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3273552"/>
            <a:ext cx="1956816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第二步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3273552"/>
            <a:ext cx="854964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组长把模板放进本组仓库并提交，组员各自克隆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3895344"/>
            <a:ext cx="1956816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3895344"/>
            <a:ext cx="1956816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第三步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3895344"/>
            <a:ext cx="854964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build，记录 digest、镜像 ID、toolchain.lock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4517136"/>
            <a:ext cx="1956816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4517136"/>
            <a:ext cx="1956816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第四步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517136"/>
            <a:ext cx="854964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test 与 make smoke 通过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5138928"/>
            <a:ext cx="1956816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5138928"/>
            <a:ext cx="1956816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第五步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5138928"/>
            <a:ext cx="854964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scan 通过；放一个假 Key，确认能报出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5760720"/>
            <a:ext cx="1956816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5760720"/>
            <a:ext cx="1956816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第六步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5760720"/>
            <a:ext cx="854964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另一名组员重新克隆重跑，对比结果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提交与验收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证据要能和仓库里的提交对应起来；不要用截图代替日志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2651760"/>
          <a:ext cx="10972800" cy="339242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核验方式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服务仓库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骨架、Dockerfile、compose、Makefile、README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别人按 README 能重跑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环境记录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env.json、build.log、image.json、toolchain.lock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与服务器实际一致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依赖固定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digest、requirements-dev.lock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按哈希安装成功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测试日志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test.log、smoke.json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测试通过，冒烟符合预期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密钥检查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secret-scan.txt、.gitignore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无泄露，.env 未被跟踪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重跑对照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两名组员的结果对比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一致，或差异有解释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相互检查与后续安排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相邻两组交换仓库地址，只看 README 尝试重跑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3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相互检查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3520440"/>
            <a:ext cx="4841748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只看 README 能重跑吗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提交作者都是学号吗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仓库、历史、镜像里有 Key 吗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证据目录能对应到提交吗</a:t>
            </a:r>
          </a:p>
        </p:txBody>
      </p:sp>
      <p:sp>
        <p:nvSpPr>
          <p:cNvPr id="9" name="Rectangle 8"/>
          <p:cNvSpPr/>
          <p:nvPr/>
        </p:nvSpPr>
        <p:spPr>
          <a:xfrm>
            <a:off x="6515100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1132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后续任务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1132" y="3520440"/>
            <a:ext cx="4841748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E5：在此环境复现论文 1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E6—E7：MVP、测试与 CI 门禁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E12：A/B 接入真实数据联调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E13：Secret 与失败隔离检查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备查：服务器初始化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服务器第一次使用前执行一次；已装好 Docker 可以跳过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587752"/>
            <a:ext cx="6839712" cy="356616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752344"/>
            <a:ext cx="6519672" cy="3291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# Ubuntu 22.04 / 24.04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sudo bash setup/bootstrap_ubuntu.sh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350" b="0">
              <a:solidFill>
                <a:srgbClr val="1C2740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# 需要镜像加速时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sudo DOCKER_MIRROR=https://&lt;加速地址&gt;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bash setup/bootstrap_ubuntu.sh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350" b="0">
              <a:solidFill>
                <a:srgbClr val="1C2740"/>
              </a:solidFill>
              <a:latin typeface="Consolas"/>
              <a:ea typeface="微软雅黑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# 重新登录后验证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docker run --rm hello-world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make doctor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7264" y="2679192"/>
            <a:ext cx="383133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7264" y="3364992"/>
            <a:ext cx="3831335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一次装好 Docker、Compose、Git、Make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镜像加速写入 daemon.json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登录账号加入 docker 组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安全组只开放 22 端口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备查：E4 实验包目录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两份服务仓库模板 + 服务器初始化脚本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587752"/>
            <a:ext cx="6839712" cy="356616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752344"/>
            <a:ext cx="6519672" cy="3291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E4实验包/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README.md               教师与助教说明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setup/bootstrap_ubuntu.sh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A-buildchecker/         A 组仓库模板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services/buildchecker/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fixtures/md-rd/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compose.yaml  Makefile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requirements-dev.in/.lock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scripts/doctor.py  secret_scan.py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B-draft/                B 组仓库模板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services/draft/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fixtures/draft/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C2740"/>
                </a:solidFill>
                <a:latin typeface="Consolas"/>
                <a:ea typeface="微软雅黑"/>
                <a:cs typeface="Consolas"/>
              </a:rPr>
              <a:t>    （其余与 A 相同）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7264" y="2679192"/>
            <a:ext cx="383133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7264" y="3364992"/>
            <a:ext cx="3831335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两份模板结构相同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样例取自 E3，只保留源码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work/ 不进镜像、不进仓库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备查：常见问题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先看报错原文，再对照下表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2560320"/>
          <a:ext cx="10972800" cy="329184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现象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原因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宿主机上 permission denied … docker.sock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账号不在 docker 组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sudo usermod -aG docker $USER，重新登录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组容器内 permission denied … docker.sock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没有加入 docker.sock 的组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 make 运行，或先设置 DOCKER_GID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strace: Operation not permitted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容器限制了 ptrace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 compose 中有 cap_add: SYS_PTRACE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拉取镜像超时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访问 Docker Hub 慢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配置镜像加速后重试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 space left on device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镜像与构建缓存占满磁盘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make clean；docker builder prune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提交作者显示成别人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用了共享的全局身份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删除 --global，在自己的克隆里设置学号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 NOT MATCH THE HASHES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锁文件与 .in 不一致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make lock 重新生成并提交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2878</Words>
  <Application>Microsoft Office PowerPoint</Application>
  <PresentationFormat>宽屏</PresentationFormat>
  <Paragraphs>480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等线</vt:lpstr>
      <vt:lpstr>微软雅黑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Lowell lance</cp:lastModifiedBy>
  <cp:revision>57</cp:revision>
  <dcterms:created xsi:type="dcterms:W3CDTF">2026-09-20T02:04:01Z</dcterms:created>
  <dcterms:modified xsi:type="dcterms:W3CDTF">2026-09-25T19:29:54Z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65526F00FCD86D725981A96A24D0E88E_42</vt:lpwstr>
  </property>
  <property fmtid="{D5CDD505-2E9C-101B-9397-08002B2CF9AE}" pid="3" name="KSOProductBuildVer">
    <vt:lpwstr>2052-6.13.1.8913</vt:lpwstr>
  </property>
</Properties>
</file>