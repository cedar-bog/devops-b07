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0403538aae4c6a" /><Relationship Type="http://schemas.openxmlformats.org/officeDocument/2006/relationships/extended-properties" Target="/docProps/app.xml" Id="Rdd3c7c4a724c4643" /><Relationship Type="http://schemas.openxmlformats.org/officeDocument/2006/relationships/officeDocument" Target="/ppt/presentation.xml" Id="R27ec1bdee12043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bb2c14c11b44ad"/>
  </p:sldMasterIdLst>
  <p:notesMasterIdLst>
    <p:notesMasterId xmlns:r="http://schemas.openxmlformats.org/officeDocument/2006/relationships" r:id="R5a5eda6ccf714d9b"/>
  </p:notesMasterIdLst>
  <p:sldIdLst>
    <p:sldId xmlns:r="http://schemas.openxmlformats.org/officeDocument/2006/relationships" id="256" r:id="Rb04eccf10fdc4221"/>
    <p:sldId xmlns:r="http://schemas.openxmlformats.org/officeDocument/2006/relationships" id="257" r:id="Rd327a41ac6de437e"/>
    <p:sldId xmlns:r="http://schemas.openxmlformats.org/officeDocument/2006/relationships" id="258" r:id="Rd1bc95c607844497"/>
    <p:sldId xmlns:r="http://schemas.openxmlformats.org/officeDocument/2006/relationships" id="259" r:id="R70b2033ab9bb435b"/>
    <p:sldId xmlns:r="http://schemas.openxmlformats.org/officeDocument/2006/relationships" id="260" r:id="Re9ddee0420204653"/>
    <p:sldId xmlns:r="http://schemas.openxmlformats.org/officeDocument/2006/relationships" id="261" r:id="R351014d42e744f1c"/>
    <p:sldId xmlns:r="http://schemas.openxmlformats.org/officeDocument/2006/relationships" id="262" r:id="Rf146362aec664c3d"/>
    <p:sldId xmlns:r="http://schemas.openxmlformats.org/officeDocument/2006/relationships" id="263" r:id="R149e5a1065044263"/>
    <p:sldId xmlns:r="http://schemas.openxmlformats.org/officeDocument/2006/relationships" id="264" r:id="R9b167953774e42da"/>
    <p:sldId xmlns:r="http://schemas.openxmlformats.org/officeDocument/2006/relationships" id="265" r:id="R7a267514b8374544"/>
    <p:sldId xmlns:r="http://schemas.openxmlformats.org/officeDocument/2006/relationships" id="266" r:id="R6426c3942be74a38"/>
    <p:sldId xmlns:r="http://schemas.openxmlformats.org/officeDocument/2006/relationships" id="267" r:id="R699fcf978d4446aa"/>
    <p:sldId xmlns:r="http://schemas.openxmlformats.org/officeDocument/2006/relationships" id="268" r:id="R030856fd485a4b90"/>
    <p:sldId xmlns:r="http://schemas.openxmlformats.org/officeDocument/2006/relationships" id="269" r:id="R506bb68336f64afe"/>
    <p:sldId xmlns:r="http://schemas.openxmlformats.org/officeDocument/2006/relationships" id="270" r:id="R28673c88f06642a3"/>
    <p:sldId xmlns:r="http://schemas.openxmlformats.org/officeDocument/2006/relationships" id="271" r:id="Rd0afa2641fd247bf"/>
    <p:sldId xmlns:r="http://schemas.openxmlformats.org/officeDocument/2006/relationships" id="272" r:id="R4910255353d940f4"/>
    <p:sldId xmlns:r="http://schemas.openxmlformats.org/officeDocument/2006/relationships" id="273" r:id="R205a37cd85ee4c8f"/>
    <p:sldId xmlns:r="http://schemas.openxmlformats.org/officeDocument/2006/relationships" id="274" r:id="Ra6d2a1733dd543dc"/>
    <p:sldId xmlns:r="http://schemas.openxmlformats.org/officeDocument/2006/relationships" id="275" r:id="R6cee5b792a8f478e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a5eff31f554ac5" /><Relationship Type="http://schemas.openxmlformats.org/officeDocument/2006/relationships/slideMaster" Target="/ppt/slideMasters/slideMaster1.xml" Id="R94bb2c14c11b44ad" /><Relationship Type="http://schemas.openxmlformats.org/officeDocument/2006/relationships/notesMaster" Target="/ppt/notesMasters/notesMaster1.xml" Id="R5a5eda6ccf714d9b" /><Relationship Type="http://schemas.openxmlformats.org/officeDocument/2006/relationships/presProps" Target="/ppt/presProps.xml" Id="Rfc6f10e48d62458d" /><Relationship Type="http://schemas.openxmlformats.org/officeDocument/2006/relationships/viewProps" Target="/ppt/viewProps.xml" Id="Rea46f00e28b445dc" /><Relationship Type="http://schemas.openxmlformats.org/officeDocument/2006/relationships/tableStyles" Target="/ppt/tableStyles.xml" Id="Rad2748393c294291" /><Relationship Type="http://schemas.openxmlformats.org/officeDocument/2006/relationships/slide" Target="/ppt/slides/slide1.xml" Id="Rb04eccf10fdc4221" /><Relationship Type="http://schemas.openxmlformats.org/officeDocument/2006/relationships/slide" Target="/ppt/slides/slide2.xml" Id="Rd327a41ac6de437e" /><Relationship Type="http://schemas.openxmlformats.org/officeDocument/2006/relationships/slide" Target="/ppt/slides/slide3.xml" Id="Rd1bc95c607844497" /><Relationship Type="http://schemas.openxmlformats.org/officeDocument/2006/relationships/slide" Target="/ppt/slides/slide4.xml" Id="R70b2033ab9bb435b" /><Relationship Type="http://schemas.openxmlformats.org/officeDocument/2006/relationships/slide" Target="/ppt/slides/slide5.xml" Id="Re9ddee0420204653" /><Relationship Type="http://schemas.openxmlformats.org/officeDocument/2006/relationships/slide" Target="/ppt/slides/slide6.xml" Id="R351014d42e744f1c" /><Relationship Type="http://schemas.openxmlformats.org/officeDocument/2006/relationships/slide" Target="/ppt/slides/slide7.xml" Id="Rf146362aec664c3d" /><Relationship Type="http://schemas.openxmlformats.org/officeDocument/2006/relationships/slide" Target="/ppt/slides/slide8.xml" Id="R149e5a1065044263" /><Relationship Type="http://schemas.openxmlformats.org/officeDocument/2006/relationships/slide" Target="/ppt/slides/slide9.xml" Id="R9b167953774e42da" /><Relationship Type="http://schemas.openxmlformats.org/officeDocument/2006/relationships/slide" Target="/ppt/slides/slide10.xml" Id="R7a267514b8374544" /><Relationship Type="http://schemas.openxmlformats.org/officeDocument/2006/relationships/slide" Target="/ppt/slides/slide11.xml" Id="R6426c3942be74a38" /><Relationship Type="http://schemas.openxmlformats.org/officeDocument/2006/relationships/slide" Target="/ppt/slides/slide12.xml" Id="R699fcf978d4446aa" /><Relationship Type="http://schemas.openxmlformats.org/officeDocument/2006/relationships/slide" Target="/ppt/slides/slide13.xml" Id="R030856fd485a4b90" /><Relationship Type="http://schemas.openxmlformats.org/officeDocument/2006/relationships/slide" Target="/ppt/slides/slide14.xml" Id="R506bb68336f64afe" /><Relationship Type="http://schemas.openxmlformats.org/officeDocument/2006/relationships/slide" Target="/ppt/slides/slide15.xml" Id="R28673c88f06642a3" /><Relationship Type="http://schemas.openxmlformats.org/officeDocument/2006/relationships/slide" Target="/ppt/slides/slide16.xml" Id="Rd0afa2641fd247bf" /><Relationship Type="http://schemas.openxmlformats.org/officeDocument/2006/relationships/slide" Target="/ppt/slides/slide17.xml" Id="R4910255353d940f4" /><Relationship Type="http://schemas.openxmlformats.org/officeDocument/2006/relationships/slide" Target="/ppt/slides/slide18.xml" Id="R205a37cd85ee4c8f" /><Relationship Type="http://schemas.openxmlformats.org/officeDocument/2006/relationships/slide" Target="/ppt/slides/slide19.xml" Id="Ra6d2a1733dd543dc" /><Relationship Type="http://schemas.openxmlformats.org/officeDocument/2006/relationships/slide" Target="/ppt/slides/slide20.xml" Id="R6cee5b792a8f47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77fca18a5545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2b8bcd6f9249c1" /><Relationship Type="http://schemas.openxmlformats.org/officeDocument/2006/relationships/notesMaster" Target="/ppt/notesMasters/notesMaster1.xml" Id="Reb2b29c2ce6a4a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1dc02958c24f0b" /><Relationship Type="http://schemas.openxmlformats.org/officeDocument/2006/relationships/notesMaster" Target="/ppt/notesMasters/notesMaster1.xml" Id="Rbce36357157143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065d8d9ba447a9" /><Relationship Type="http://schemas.openxmlformats.org/officeDocument/2006/relationships/notesMaster" Target="/ppt/notesMasters/notesMaster1.xml" Id="Rf51814edfd984d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9fb273ef504fa7" /><Relationship Type="http://schemas.openxmlformats.org/officeDocument/2006/relationships/notesMaster" Target="/ppt/notesMasters/notesMaster1.xml" Id="R8db447901b2543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f1f2a17f0a467a" /><Relationship Type="http://schemas.openxmlformats.org/officeDocument/2006/relationships/notesMaster" Target="/ppt/notesMasters/notesMaster1.xml" Id="R3c2e358f890f4d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e18f38078344c7" /><Relationship Type="http://schemas.openxmlformats.org/officeDocument/2006/relationships/notesMaster" Target="/ppt/notesMasters/notesMaster1.xml" Id="R44171a1a56174f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c4148c1a2f431e" /><Relationship Type="http://schemas.openxmlformats.org/officeDocument/2006/relationships/notesMaster" Target="/ppt/notesMasters/notesMaster1.xml" Id="Rc745d59cabd745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63aa15161d4edd" /><Relationship Type="http://schemas.openxmlformats.org/officeDocument/2006/relationships/notesMaster" Target="/ppt/notesMasters/notesMaster1.xml" Id="Rf422106287b747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f01a2f61354886" /><Relationship Type="http://schemas.openxmlformats.org/officeDocument/2006/relationships/notesMaster" Target="/ppt/notesMasters/notesMaster1.xml" Id="R01598e22b90d4c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a9653586fc45e1" /><Relationship Type="http://schemas.openxmlformats.org/officeDocument/2006/relationships/notesMaster" Target="/ppt/notesMasters/notesMaster1.xml" Id="R99324533acf642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6091cffffa4ded" /><Relationship Type="http://schemas.openxmlformats.org/officeDocument/2006/relationships/notesMaster" Target="/ppt/notesMasters/notesMaster1.xml" Id="R2b2f3a16509641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19cf3659bc405e" /><Relationship Type="http://schemas.openxmlformats.org/officeDocument/2006/relationships/notesMaster" Target="/ppt/notesMasters/notesMaster1.xml" Id="R7557c677a7564e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23d87f49c34746" /><Relationship Type="http://schemas.openxmlformats.org/officeDocument/2006/relationships/notesMaster" Target="/ppt/notesMasters/notesMaster1.xml" Id="Re72e81411bcf45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686716eaa74ab3" /><Relationship Type="http://schemas.openxmlformats.org/officeDocument/2006/relationships/notesMaster" Target="/ppt/notesMasters/notesMaster1.xml" Id="R0051b179576c46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c3700ddb70d4401" /><Relationship Type="http://schemas.openxmlformats.org/officeDocument/2006/relationships/notesMaster" Target="/ppt/notesMasters/notesMaster1.xml" Id="R4a928b765e88478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762005a3f64036" /><Relationship Type="http://schemas.openxmlformats.org/officeDocument/2006/relationships/notesMaster" Target="/ppt/notesMasters/notesMaster1.xml" Id="Ra5770a9795e1435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45d632f5404aed" /><Relationship Type="http://schemas.openxmlformats.org/officeDocument/2006/relationships/notesMaster" Target="/ppt/notesMasters/notesMaster1.xml" Id="Rdab65be0094343c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f4a21114c14094" /><Relationship Type="http://schemas.openxmlformats.org/officeDocument/2006/relationships/notesMaster" Target="/ppt/notesMasters/notesMaster1.xml" Id="R353b58b6c2a84cd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789c9785224457b" /><Relationship Type="http://schemas.openxmlformats.org/officeDocument/2006/relationships/notesMaster" Target="/ppt/notesMasters/notesMaster1.xml" Id="Rf53b056c38e9463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6331880effd4b0b" /><Relationship Type="http://schemas.openxmlformats.org/officeDocument/2006/relationships/notesMaster" Target="/ppt/notesMasters/notesMaster1.xml" Id="R3abe24c3b3484b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E6 已经实现自动检测和构建验证，E7 进一步检查它们在不同情况下是否都按预期工作。我们先明确每个场景的正确结果，再运行测试，最后把测试接入 CI。除了正常通过，还要实际看到失败时合并被拦截，以及修正测试预期后怎样恢复。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今天按这四步推进。首先核对核心能力，确认依赖集合和构建运行结果准确。随后注入故障，看程序能否识别失败、无效输入和超时。接着把同一套检查放进 CI，让提交自动触发执行。最后通过一个故意失败的 PR，观察分支保护是否真正阻止合并，并保存恢复后的记录。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运行前，先给每个场景写清预期。A 原始样例应检出两条错误，B 正常候选应输出 hello E3，输出不符场景则刻意把预期改成其他文本。执行后，我们逐项比较状态、退出码和报告。表中的 PASS 表示实际行为符合该场景的预期，因此故障场景也可以通过测试，关键是程序有没有正确识别它。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参考：run_e7_a_gate.py、run_e7_b_gate.py 的 evaluate()。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这里把三个层次分开看。A 的分析成功完成，可以同时报告依赖错误并返回 1。修复后没有错误，返回 0。B 遇到运行超时，则应返回 TIMED_OUT 和退出码 1。门禁再根据各自预期判定这些结果，如果全部符合要求，整体 gate 返回 0。所以看到一个退出码时，先确认它来自工具、单个场景，还是整体门禁。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的门禁共有八项检查。服务单元测试算一项，原始样例重复三次，再加修复、构建失败、多输出和超时，共七次实际运行。原始三次都要精确检出相同的 MD 和 RD，修复后应清空。故障场景则分别检查 FAILED、UNSUPPORTED 和 TIMED_OUT。下面先看原始与修复结果怎样对照。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参考：evidence/E7-A/e7-a-PwCyFf/gate-result.json。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原始样例三次都应得到上方这两条错误，比较时检查完整集合，既看是否漏掉，也看是否多出其他结论。每次运行各有自己的 trace_id 和证据目录。修复后 findings 应为空，同时核对输入哈希，确认只有 Makefile 变化。这样就能把重复运行的一致性，以及修复引起的结果变化分别检查清楚。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参考：E7-A/e7-a-PwCyFf/original-1、original-2、original-3、fixed。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三类故障在独立副本中注入。删除 config.h 后，构建应实际失败，报告记录 FAILED。让同一任务写出多个最终文件时，构建可以成功，但分析应返回 UNSUPPORTED。最后在 recipe 中加入 sleep 10，超过预算后应报告 TIMED_OUT。每个场景都要同时看状态、退出码和原始日志，符合预期后才记为通过。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参考：scripts/run_e7_a_gate.py 与 E7-A/e7-a-PwCyFf/。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轨道现在整块执行这组命令。第一条先检查判定函数本身，预期六项独立测试通过。第二条运行完整门禁，包含服务测试和七次实际构建检测。结束后先确认整体退出码为 0，再打开 gate-result.json，逐项查看 passed 是否为 true。最后对照同目录的 results.csv，确认八项检查都完整记录下来。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 的门禁共有六项，包含一项服务测试和五个工作流场景。正常候选要完成两轮构建和程序验证。输出不符要报告失败，修改 CMD 的无效候选要在构建前拒绝，候选构建失败后应停止运行验证。超时场景则要先确认候选构建成功，再检查运行超时和容器清理。接下来分别看其中几个判定重点。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参考：E7-B/e7-b-final-msDMyB/gate-result.json。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先看输出校验。程序实际输出仍是 hello E3，正常预期与它相同，比较结果为 true。故障测试把预期改成 intentionally wrong output，程序应识别不匹配，报告 FAILED。再看候选检查，把 CMD 改成 echo 后，即使能打印相同文本，也改变了必需的运行指令，因此应在构建前拒绝，报告中还没有构建轮次。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参考：run_e7_b_gate.py 的 evaluate()。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运行超时通过这条延迟 CMD 注入，初始和候选 Dockerfile 都做相同修改。程序启动后先等待十秒，而验证预算只有一秒。检查时先确认第一轮缺少 make、第二轮构建成功，再看状态是否为 TIMED_OUT。最后沿保存的运行容器 ID 检查清理结果，确认容器已移除。故障修改本身记录在 fault-injection.json 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参考：E7-B/e7-b-final-msDMyB/runtime-timeout/。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 轨道整块执行这组命令，使用包内候选运行完整门禁。若使用自己的候选，就按指南替换 replay 选项。结束后，先确认整体退出码为 0，再查看报告里的六项检查。每个场景都有单独的命令、标准输出、错误输出和 evidence 目录，发现不符合预期的项目时，就沿它的场景目录继续查看。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整理结果时，可以从上往下查。先从 gate 报告找到具体场景，再看命令和原始输出。A 的结论对应 findings、trace 和 Make 数据库，B 的结论对应两轮构建、镜像 ID 和验证日志。无效候选在构建前结束，就按拒绝条件检查。到了 CI，还要把 commit.txt 一起保存，用来确认这套结果对应哪一次提交。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本地门禁完成后，把同一套检查放进 CI。流水线先检出触发提交，保存提交信息，再做语法检查和扫描，随后构建、测试并运行完整门禁。A 还会在构建前运行独立判定测试。无论成功或失败，结果都会归档，保留十四天。按指南完成仓库登录和首次推送后，输入实际运行 ID，用下方命令等待本次 CI 结束。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首次 CI 通过后，再配置 main 分支保护。A 和 B 使用各自的必需检查名称，两边都开启 strict 和 enforce_admins，并通过 PR 合并。先运行下方查询，确认当前提交产生的检查名和实际 App ID，再按轨道加载对应保护配置。配置后重新读取保护结果，核对名称和开关，后面的失败拦截才有明确的判断依据。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参考：CI-A/A-main-protection.json、CI-B/main-protection.json。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现在实际测试合并拦截。按指南创建故意失败的 PR，把 version 返回码预期写成 1，而程序实际返回 0。输入自己创建的 PR 编号，等待检查失败后，再执行普通合并并保存日志。预期 PR 保持 OPEN，合并状态为 BLOCKED，合并命令返回 1。下方是真实拒绝日志节选，可以和自己的结果对照。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参考：CI-A/pr-2-rejection/ 与 CI-B/pr-2-rejection/ 的失败测试、blocked-PR.json 和 merge-rejection.log。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接着在同一个 PR 中修正测试预期，把成功返回码改回 0，提交并推送。先等待最新提交的检查完成，核对 headRefOid 和运行 ID，再下载这次通过的结果。全部通过后，执行下方合并命令并保存最终记录。这次恢复修正的是故意写错的测试预期，因此报告中也要准确说明改动内容。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参考：CI-A/pr-2-recovery/、CI-B/pr-2-recovery/。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这张表把两条轨道的正常、失败和恢复记录并排放在一起。A 失败时是一项失败、十五项通过，修正后十六项通过。B 对应一项失败、二十四项通过，修正后二十五项通过。恢复后各多出的一项，就是门禁演示测试。对照时还要看同一 PR 从 BLOCKED 恢复到 CLEAN，再到最终 MERGED 的记录。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参考：CI-A/A轨道门禁闭环.md、CI-B/B轨道门禁闭环.md 及对应原始日志。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参考记录：https://github.com/Scout7666/DevOps/pull/2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参考记录：https://github.com/Scout7666/devops-20261020-draft/pull/2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遇到问题时，先确定失败发生在哪一步。网络和下载失败要查构建日志，确认是否已经到达 RUN make。修改源码或测试后仍得到旧结果，就重建服务镜像。输出目录已存在时换一个新目录，保留前次记录。推送后若还是旧检查，就等新运行出现，并核对最新提交。B 的构建服务需要网络，最终程序验证仍保持禁网。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最后把提交材料按表中五项整理。测试报告要把每个场景的预期和实际对应起来，gate 的 JSON、CSV 和原始日志一起保存。CI 需要正常、失败和恢复的运行记录，还要有 main 保护配置、实际合并拒绝日志和最终合并结果。报告写明仓库、提交 SHA 与 work 路径，确保沿着这些记录能够完整回查本次实验。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ad4d1dcde04556" /><Relationship Type="http://schemas.openxmlformats.org/officeDocument/2006/relationships/image" Target="/ppt/media/image.png" Id="Rdffa66cf5bea4c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17e2cbdd146c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a85db1b13647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359d229b8c4e29" /></Relationships>
</file>

<file path=ppt/slideLayouts/slideLayout1.xml><?xml version="1.0" encoding="utf-8"?>
<p:sldLayout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3">
            <a:extLst xmlns:a="http://schemas.openxmlformats.org/drawingml/2006/main">
              <a:ext uri="{FF2B5EF4-FFF2-40B4-BE49-F238E27FC236}">
                <a16:creationId xmlns:a16="http://schemas.microsoft.com/office/drawing/2014/main" id="{33F467EE-8415-4536-9F1D-8ED1BD0D10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fa66cf5bea4c8a"/>
          <a:srcRect xmlns:a="http://schemas.openxmlformats.org/drawingml/2006/main" l="0" t="0" r="390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8605" y="-464820"/>
            <a:ext cx="2005965" cy="2175510"/>
          </a:xfrm>
          <a:prstGeom xmlns:a="http://schemas.openxmlformats.org/drawingml/2006/main" prst="rect">
            <a:avLst/>
          </a:prstGeom>
        </p:spPr>
      </p:pic>
    </p:spTree>
  </p:cSld>
  <p:hf hdr="0" ftr="0"/>
</p:sldLayout>
</file>

<file path=ppt/slideLayouts/slideLayout2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12D5E-C032-4E94-8A53-F98121B4B1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0769E89-5EE0-4C66-9EA3-53E502EF82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79EB1FB-32C4-4374-828A-E1763D1200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080376F-86FB-4B5D-B771-E4EE2E61D1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DD17D05-5970-4BA7-90D4-94EF194C46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CA4341B-1426-4CA9-9337-78679EBA29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F9D2EAC-03D9-4313-9B5B-2CEF078BD8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2944017-EE51-43ED-8F56-6A09DF06E7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414D37-244C-476C-A95C-1248135C49C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98800" y="2484000"/>
            <a:ext cx="9799200" cy="1018800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marL="0" marR="0" algn="ctr" defTabSz="914400">
              <a:lnSpc>
                <a:spcPct val="100000"/>
              </a:lnSpc>
              <a:buNone/>
              <a:defRPr sz="6000" b="1" i="0" u="none" kern="1200" cap="none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D9DFE205-1687-4F6A-8933-A90100A9296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800" y="3560400"/>
            <a:ext cx="9799200" cy="471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096e67bbb94f40" /><Relationship Type="http://schemas.openxmlformats.org/officeDocument/2006/relationships/slideLayout" Target="/ppt/slideLayouts/slideLayout1.xml" Id="R0cbad9e840af424f" /><Relationship Type="http://schemas.openxmlformats.org/officeDocument/2006/relationships/slideLayout" Target="/ppt/slideLayouts/slideLayout2.xml" Id="R6ecde83a4d504759" /><Relationship Type="http://schemas.openxmlformats.org/officeDocument/2006/relationships/slideLayout" Target="/ppt/slideLayouts/slideLayout3.xml" Id="R064d04f5b27c4cf6" /><Relationship Type="http://schemas.openxmlformats.org/officeDocument/2006/relationships/slideLayout" Target="/ppt/slideLayouts/slideLayout4.xml" Id="Rebbecfeb32404bd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E6788C9-04A3-42FE-9890-A6683C5B16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2F00D3-D586-49EB-BFA9-00663DF8BB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3633AD2-B657-4496-ACAC-13C9FAAB753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2AC67ED-7807-4C18-B725-B7053959D2D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3BCDFE8-BBA6-451F-9E19-BB0303E2AE6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bad9e840af424f"/>
    <p:sldLayoutId xmlns:r="http://schemas.openxmlformats.org/officeDocument/2006/relationships" id="2147483650" r:id="R6ecde83a4d504759"/>
    <p:sldLayoutId xmlns:r="http://schemas.openxmlformats.org/officeDocument/2006/relationships" id="2147483651" r:id="R064d04f5b27c4cf6"/>
    <p:sldLayoutId xmlns:r="http://schemas.openxmlformats.org/officeDocument/2006/relationships" id="2147483652" r:id="Rebbecfeb32404bd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ca6191e9514bea" /><Relationship Type="http://schemas.openxmlformats.org/officeDocument/2006/relationships/image" Target="/ppt/media/image2.png" Id="R169b49a70f0c4af5" /><Relationship Type="http://schemas.openxmlformats.org/officeDocument/2006/relationships/image" Target="/ppt/media/image3.png" Id="R0cad086463614a62" /><Relationship Type="http://schemas.openxmlformats.org/officeDocument/2006/relationships/image" Target="/ppt/media/image4.png" Id="Rdb672127ed1f4722" /><Relationship Type="http://schemas.openxmlformats.org/officeDocument/2006/relationships/image" Target="/ppt/media/image5.png" Id="R1b5de6857ba64f1c" /><Relationship Type="http://schemas.openxmlformats.org/officeDocument/2006/relationships/image" Target="/ppt/media/image6.png" Id="Rfa2d8901ba6645c0" /><Relationship Type="http://schemas.openxmlformats.org/officeDocument/2006/relationships/notesSlide" Target="/ppt/notesSlides/notesSlide1.xml" Id="Ra35c2dea253345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a383699e64d05" /><Relationship Type="http://schemas.openxmlformats.org/officeDocument/2006/relationships/notesSlide" Target="/ppt/notesSlides/notesSlide2.xml" Id="R1163f4afdef24c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0b49dbd2f4730" /><Relationship Type="http://schemas.openxmlformats.org/officeDocument/2006/relationships/notesSlide" Target="/ppt/notesSlides/notesSlide3.xml" Id="R7d8b136ee7ab42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1a5a1617941ce" /><Relationship Type="http://schemas.openxmlformats.org/officeDocument/2006/relationships/notesSlide" Target="/ppt/notesSlides/notesSlide4.xml" Id="R5f30050ce3fd41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0882f226f4b20" /><Relationship Type="http://schemas.openxmlformats.org/officeDocument/2006/relationships/notesSlide" Target="/ppt/notesSlides/notesSlide5.xml" Id="Rd19b6308d2be44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9f3c2929746f2" /><Relationship Type="http://schemas.openxmlformats.org/officeDocument/2006/relationships/notesSlide" Target="/ppt/notesSlides/notesSlide6.xml" Id="R119a26a15c8e48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8ff7e60bb4ef5" /><Relationship Type="http://schemas.openxmlformats.org/officeDocument/2006/relationships/notesSlide" Target="/ppt/notesSlides/notesSlide7.xml" Id="Ra8281bb6c69346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def9709c8461e" /><Relationship Type="http://schemas.openxmlformats.org/officeDocument/2006/relationships/notesSlide" Target="/ppt/notesSlides/notesSlide8.xml" Id="Rdd030cfadb1343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24306215f4897" /><Relationship Type="http://schemas.openxmlformats.org/officeDocument/2006/relationships/notesSlide" Target="/ppt/notesSlides/notesSlide9.xml" Id="R5a9c6a60710b4f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660e9b5a3470d" /><Relationship Type="http://schemas.openxmlformats.org/officeDocument/2006/relationships/notesSlide" Target="/ppt/notesSlides/notesSlide10.xml" Id="Re80d7e81165a4f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bc9ff25804e32" /><Relationship Type="http://schemas.openxmlformats.org/officeDocument/2006/relationships/notesSlide" Target="/ppt/notesSlides/notesSlide11.xml" Id="R2ff461f3e28544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c38953a444108" /><Relationship Type="http://schemas.openxmlformats.org/officeDocument/2006/relationships/notesSlide" Target="/ppt/notesSlides/notesSlide12.xml" Id="R032eb0c2312745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655f6b90742e8" /><Relationship Type="http://schemas.openxmlformats.org/officeDocument/2006/relationships/notesSlide" Target="/ppt/notesSlides/notesSlide13.xml" Id="Rb9c70753fca44a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e85d606054dec" /><Relationship Type="http://schemas.openxmlformats.org/officeDocument/2006/relationships/notesSlide" Target="/ppt/notesSlides/notesSlide14.xml" Id="R3311bfe489c943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4e018fa70434f" /><Relationship Type="http://schemas.openxmlformats.org/officeDocument/2006/relationships/notesSlide" Target="/ppt/notesSlides/notesSlide15.xml" Id="Rd6ba8d0365794b6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eda2dd2224c7c" /><Relationship Type="http://schemas.openxmlformats.org/officeDocument/2006/relationships/notesSlide" Target="/ppt/notesSlides/notesSlide16.xml" Id="Rdc3d8a8f29f24c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31ba69be34e60" /><Relationship Type="http://schemas.openxmlformats.org/officeDocument/2006/relationships/notesSlide" Target="/ppt/notesSlides/notesSlide17.xml" Id="Re9936e777c724d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ee09a396d4038" /><Relationship Type="http://schemas.openxmlformats.org/officeDocument/2006/relationships/notesSlide" Target="/ppt/notesSlides/notesSlide18.xml" Id="R3c9ee53532b7451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f6d4540ee4b3d" /><Relationship Type="http://schemas.openxmlformats.org/officeDocument/2006/relationships/notesSlide" Target="/ppt/notesSlides/notesSlide19.xml" Id="R1de8543999c3401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f7215eff3470a" /><Relationship Type="http://schemas.openxmlformats.org/officeDocument/2006/relationships/notesSlide" Target="/ppt/notesSlides/notesSlide20.xml" Id="R06f15ead6ad9484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图片 13">
            <a:extLst xmlns:a="http://schemas.openxmlformats.org/drawingml/2006/main">
              <a:ext uri="{FF2B5EF4-FFF2-40B4-BE49-F238E27FC236}">
                <a16:creationId xmlns:a16="http://schemas.microsoft.com/office/drawing/2014/main" id="{F5BB1B52-7218-4B29-A2FD-4DFCB00E02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b49a70f0c4a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92615" y="-1282700"/>
            <a:ext cx="4442460" cy="4099560"/>
          </a:xfrm>
          <a:prstGeom xmlns:a="http://schemas.openxmlformats.org/drawingml/2006/main" prst="rect">
            <a:avLst/>
          </a:prstGeom>
        </p:spPr>
      </p:pic>
      <p:pic>
        <p:nvPicPr>
          <p:cNvPr id="30" name="图片 14">
            <a:extLst xmlns:a="http://schemas.openxmlformats.org/drawingml/2006/main">
              <a:ext uri="{FF2B5EF4-FFF2-40B4-BE49-F238E27FC236}">
                <a16:creationId xmlns:a16="http://schemas.microsoft.com/office/drawing/2014/main" id="{BD9F6A78-BE89-4DD9-813D-FF3A095575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d086463614a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951230" y="3771900"/>
            <a:ext cx="3503930" cy="3232785"/>
          </a:xfrm>
          <a:prstGeom xmlns:a="http://schemas.openxmlformats.org/drawingml/2006/main" prst="rect">
            <a:avLst/>
          </a:prstGeom>
        </p:spPr>
      </p:pic>
      <p:pic>
        <p:nvPicPr>
          <p:cNvPr id="31" name="图片 4">
            <a:extLst xmlns:a="http://schemas.openxmlformats.org/drawingml/2006/main">
              <a:ext uri="{FF2B5EF4-FFF2-40B4-BE49-F238E27FC236}">
                <a16:creationId xmlns:a16="http://schemas.microsoft.com/office/drawing/2014/main" id="{0039CBAF-3C85-4621-9310-3E71C133E5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72127ed1f47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4970" y="5332730"/>
            <a:ext cx="4865370" cy="1885950"/>
          </a:xfrm>
          <a:prstGeom xmlns:a="http://schemas.openxmlformats.org/drawingml/2006/main" prst="rect">
            <a:avLst/>
          </a:prstGeom>
        </p:spPr>
      </p:pic>
      <p:pic>
        <p:nvPicPr>
          <p:cNvPr id="32" name="图片 5">
            <a:extLst xmlns:a="http://schemas.openxmlformats.org/drawingml/2006/main">
              <a:ext uri="{FF2B5EF4-FFF2-40B4-BE49-F238E27FC236}">
                <a16:creationId xmlns:a16="http://schemas.microsoft.com/office/drawing/2014/main" id="{FDBEFD4C-654E-433F-9387-3442075012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72127ed1f47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6907530" y="5332730"/>
            <a:ext cx="4865370" cy="1885950"/>
          </a:xfrm>
          <a:prstGeom xmlns:a="http://schemas.openxmlformats.org/drawingml/2006/main" prst="rect">
            <a:avLst/>
          </a:prstGeom>
        </p:spPr>
      </p:pic>
      <p:pic>
        <p:nvPicPr>
          <p:cNvPr id="33" name="图片 20">
            <a:extLst xmlns:a="http://schemas.openxmlformats.org/drawingml/2006/main">
              <a:ext uri="{FF2B5EF4-FFF2-40B4-BE49-F238E27FC236}">
                <a16:creationId xmlns:a16="http://schemas.microsoft.com/office/drawing/2014/main" id="{F355BFF9-8884-4705-BD07-2B45E96EB3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de6857ba64f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988560"/>
            <a:ext cx="12233910" cy="1869440"/>
          </a:xfrm>
          <a:prstGeom xmlns:a="http://schemas.openxmlformats.org/drawingml/2006/main" prst="rect">
            <a:avLst/>
          </a:prstGeom>
        </p:spPr>
      </p:pic>
      <p:pic>
        <p:nvPicPr>
          <p:cNvPr id="34" name="图片 3">
            <a:extLst xmlns:a="http://schemas.openxmlformats.org/drawingml/2006/main">
              <a:ext uri="{FF2B5EF4-FFF2-40B4-BE49-F238E27FC236}">
                <a16:creationId xmlns:a16="http://schemas.microsoft.com/office/drawing/2014/main" id="{B1D9AFD3-8D2F-4217-B276-0AD839B156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2d8901ba6645c0"/>
          <a:srcRect xmlns:a="http://schemas.openxmlformats.org/drawingml/2006/main" l="16598" t="0" r="41371" b="32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02455" y="-988999"/>
            <a:ext cx="2341396" cy="2408268"/>
          </a:xfrm>
          <a:prstGeom xmlns:a="http://schemas.openxmlformats.org/drawingml/2006/main" prst="rect">
            <a:avLst/>
          </a:prstGeom>
        </p:spPr>
      </p:pic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DAE81A33-4007-4252-8463-EE95FF83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43225"/>
            <a:ext cx="9525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8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38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E7 论文1验证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0C22649-07B2-4C46-9E80-59DCF720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38600"/>
            <a:ext cx="5143500" cy="1294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DevOps 教学实验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latin typeface="微软雅黑"/>
                <a:ea typeface="微软雅黑"/>
                <a:cs typeface="微软雅黑"/>
              </a:rPr>
              <a:t>2026-10-20</a:t>
            </a:r>
            <a:endParaRPr>
              <a:solidFill>
                <a:srgbClr val="B88F4D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610360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923188-D7AD-4FBB-A375-328449F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实验任务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8BD4ED-0F0F-416C-8C61-E762224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先写预期结果，再运行并逐项判定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057E971-A4B5-4CA6-BB80-BBB16DB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47A210-8DE8-470B-BFF3-8DC9174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E7  /  2</a:t>
            </a:r>
          </a:p>
        </p:txBody>
      </p:sp>
      <p:sp>
        <p:nvSpPr>
          <p:cNvPr id="6" name="1">
            <a:extLst xmlns:a="http://schemas.openxmlformats.org/drawingml/2006/main">
              <a:ext uri="{FF2B5EF4-FFF2-40B4-BE49-F238E27FC236}">
                <a16:creationId xmlns:a16="http://schemas.microsoft.com/office/drawing/2014/main" id="{C6B99512-D7B7-4C70-91A1-F1D70356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测试核心能力：精确 MD/RD 或两轮构建与程序验证">
            <a:extLst xmlns:a="http://schemas.openxmlformats.org/drawingml/2006/main">
              <a:ext uri="{FF2B5EF4-FFF2-40B4-BE49-F238E27FC236}">
                <a16:creationId xmlns:a16="http://schemas.microsoft.com/office/drawing/2014/main" id="{1604AD76-818C-4956-819E-AAB1A2C6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051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测试核心能力：精确 MD/RD 或两轮构建与程序验证</a:t>
            </a:r>
          </a:p>
        </p:txBody>
      </p:sp>
      <p:sp>
        <p:nvSpPr>
          <p:cNvPr id="8" name="2">
            <a:extLst xmlns:a="http://schemas.openxmlformats.org/drawingml/2006/main">
              <a:ext uri="{FF2B5EF4-FFF2-40B4-BE49-F238E27FC236}">
                <a16:creationId xmlns:a16="http://schemas.microsoft.com/office/drawing/2014/main" id="{C3C56CF0-C011-4847-AB94-791A6178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9" name="验证故障处理：失败、无效输入和超时均按预期结束">
            <a:extLst xmlns:a="http://schemas.openxmlformats.org/drawingml/2006/main">
              <a:ext uri="{FF2B5EF4-FFF2-40B4-BE49-F238E27FC236}">
                <a16:creationId xmlns:a16="http://schemas.microsoft.com/office/drawing/2014/main" id="{605DBDB5-4753-4390-B71E-F8B31B12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671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验证故障处理：失败、无效输入和超时均按预期结束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C87C92DE-98ED-498D-A30A-E7F527EF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" name="接入 CI：每次提交运行测试并归档结果">
            <a:extLst xmlns:a="http://schemas.openxmlformats.org/drawingml/2006/main">
              <a:ext uri="{FF2B5EF4-FFF2-40B4-BE49-F238E27FC236}">
                <a16:creationId xmlns:a16="http://schemas.microsoft.com/office/drawing/2014/main" id="{C8B1D46D-F473-4F46-ABC9-EBE7E97C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291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接入 CI：每次提交运行测试并归档结果</a:t>
            </a:r>
          </a:p>
        </p:txBody>
      </p:sp>
      <p:sp>
        <p:nvSpPr>
          <p:cNvPr id="12" name="4">
            <a:extLst xmlns:a="http://schemas.openxmlformats.org/drawingml/2006/main">
              <a:ext uri="{FF2B5EF4-FFF2-40B4-BE49-F238E27FC236}">
                <a16:creationId xmlns:a16="http://schemas.microsoft.com/office/drawing/2014/main" id="{9586ED79-62A1-46C9-A9FF-686DBAF4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435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3" name="检查合并门禁：失败阻止合并，修正预期后恢复通过">
            <a:extLst xmlns:a="http://schemas.openxmlformats.org/drawingml/2006/main">
              <a:ext uri="{FF2B5EF4-FFF2-40B4-BE49-F238E27FC236}">
                <a16:creationId xmlns:a16="http://schemas.microsoft.com/office/drawing/2014/main" id="{C48DC518-8F0E-4813-A243-9F3EE8AB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911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检查合并门禁：失败阻止合并，修正预期后恢复通过</a:t>
            </a:r>
          </a:p>
        </p:txBody>
      </p:sp>
    </p:spTree>
    <p:extLst>
      <p:ext uri="{BB962C8B-B14F-4D97-AF65-F5344CB8AC3E}">
        <p14:creationId xmlns:p14="http://schemas.microsoft.com/office/powerpoint/2010/main" val="19655638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923188-D7AD-4FBB-A375-328449F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预期结果与判定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8BD4ED-0F0F-416C-8C61-E762224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每个场景记录输入、预期、实际、退出码和证据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057E971-A4B5-4CA6-BB80-BBB16DB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47A210-8DE8-470B-BFF3-8DC9174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E7  /  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6CB53-A7DB-4E0B-8D8A-E95462BFCB40}"/>
              </a:ext>
            </a:extLst>
          </p:cNvPr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190875"/>
                <a:gridCol w="4067175"/>
                <a:gridCol w="1619250"/>
              </a:tblGrid>
              <a:tr h="7620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场景输入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预期结果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</a:tr>
              <a:tr h="76200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原始样例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SUCCEEDED / 1</a:t>
                      </a:r>
                    </a:p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精确两条 MD/RD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三次错误集合一致</a:t>
                      </a:r>
                    </a:p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findings.json + trace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PASS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正常候选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SUCCEEDED / 0</a:t>
                      </a:r>
                    </a:p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 hello E3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build=0，run=0</a:t>
                      </a:r>
                    </a:p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output_matches=true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PASS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76200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输出不符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FAILED / 1</a:t>
                      </a:r>
                    </a:p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output_matches=false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程序仍输出 hello E3</a:t>
                      </a:r>
                    </a:p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预期刻意改为其他文本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PASS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SS 表示实际行为符合该场景的预期，故障场景也有明确的通过条件">
            <a:extLst xmlns:a="http://schemas.openxmlformats.org/drawingml/2006/main">
              <a:ext uri="{FF2B5EF4-FFF2-40B4-BE49-F238E27FC236}">
                <a16:creationId xmlns:a16="http://schemas.microsoft.com/office/drawing/2014/main" id="{363A9D54-23BC-4296-B7DA-88B42F1B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88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PASS 表示实际行为符合该场景的预期，故障场景也有明确的通过条件</a:t>
            </a:r>
          </a:p>
        </p:txBody>
      </p:sp>
    </p:spTree>
    <p:extLst>
      <p:ext uri="{BB962C8B-B14F-4D97-AF65-F5344CB8AC3E}">
        <p14:creationId xmlns:p14="http://schemas.microsoft.com/office/powerpoint/2010/main" val="19655638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923188-D7AD-4FBB-A375-328449F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退出码与测试结果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8BD4ED-0F0F-416C-8C61-E762224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工具状态、工具退出码和场景结果分别记录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057E971-A4B5-4CA6-BB80-BBB16DB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47A210-8DE8-470B-BFF3-8DC9174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E7  /  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96D2A-8074-40AB-9859-465035A5514D}"/>
              </a:ext>
            </a:extLst>
          </p:cNvPr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381250"/>
                <a:gridCol w="1905000"/>
                <a:gridCol w="3971925"/>
              </a:tblGrid>
              <a:tr h="619125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工具退出码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检测到 MD/RD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SUCCEEDED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PASS：精确命中错误集合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修复后复检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SUCCEEDED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PASS：findings=[]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运行超时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TIMED_OUT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PASS：超时且运行容器已清理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全部场景符合预期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整体 gate 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所有 passed=true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5638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923188-D7AD-4FBB-A375-328449F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 验证矩阵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8BD4ED-0F0F-416C-8C61-E762224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共八项检查：服务测试一项，七次实际构建与检测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057E971-A4B5-4CA6-BB80-BBB16DB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47A210-8DE8-470B-BFF3-8DC9174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E7  /  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20AC6-3B8C-48F0-88D2-4C0029B4DD70}"/>
              </a:ext>
            </a:extLst>
          </p:cNvPr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72800" cy="3400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857500"/>
                <a:gridCol w="5638800"/>
              </a:tblGrid>
              <a:tr h="485775"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 / 退出码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判定条件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</a:tr>
              <a:tr h="485775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服务单元测试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 passed /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服务测试全部通过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原始 1 / 2 / 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SUCCEEDED /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每次精确输出 MD(config.h)、RD(unused.h)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85775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SUCCEEDED /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findings=[]，输入仅 Makefile 变化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构建失败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FAILED /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构建实际失败并保存日志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85775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多输出任务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FAILED /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error_code=UNSUPPORTED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超时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TIMED_OUT /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error_code=TIMEOUT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5638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923188-D7AD-4FBB-A375-328449F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 原始与修复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8BD4ED-0F0F-416C-8C61-E762224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三次重复检查完整错误集合，修复后核对输入哈希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057E971-A4B5-4CA6-BB80-BBB16DB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47A210-8DE8-470B-BFF3-8DC9174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E7  /  6</a:t>
            </a:r>
          </a:p>
        </p:txBody>
      </p:sp>
      <p:sp>
        <p:nvSpPr>
          <p:cNvPr id="6" name="操作命令">
            <a:extLst xmlns:a="http://schemas.openxmlformats.org/drawingml/2006/main">
              <a:ext uri="{FF2B5EF4-FFF2-40B4-BE49-F238E27FC236}">
                <a16:creationId xmlns:a16="http://schemas.microsoft.com/office/drawing/2014/main" id="{7E6BD58C-464A-42E5-A2DD-82EE9810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0668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MISSING    main.o -&gt; config.h</a:t>
            </a:r>
          </a:p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REDUNDANT  main.o -&gt; unused.h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A58C6-BCAC-4B9D-B21B-424C491C6665}"/>
              </a:ext>
            </a:extLst>
          </p:cNvPr>
          <p:cNvGraphicFramePr/>
          <p:nvPr/>
        </p:nvGraphicFramePr>
        <p:xfrm>
          <a:off xmlns:a="http://schemas.openxmlformats.org/drawingml/2006/main" x="609600" y="4143375"/>
          <a:ext xmlns:a="http://schemas.openxmlformats.org/drawingml/2006/main" cx="1097280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476625"/>
                <a:gridCol w="4162425"/>
              </a:tblGrid>
              <a:tr h="508000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错误集合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输入对照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</a:tr>
              <a:tr h="5080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original-1 / 2 / 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每次同为上述两条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输入相同，各自保存 trace_id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fixed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findings=[]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只有 Makefile 哈希变化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同时核对 trace 文件行号与 Make 声明，确保结论能回到原始证">
            <a:extLst xmlns:a="http://schemas.openxmlformats.org/drawingml/2006/main">
              <a:ext uri="{FF2B5EF4-FFF2-40B4-BE49-F238E27FC236}">
                <a16:creationId xmlns:a16="http://schemas.microsoft.com/office/drawing/2014/main" id="{497F6DC7-10BD-4E17-8B12-095BBCC3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同时核对 trace 文件行号与 Make 声明，确保结论能回到原始证据</a:t>
            </a:r>
          </a:p>
        </p:txBody>
      </p:sp>
    </p:spTree>
    <p:extLst>
      <p:ext uri="{BB962C8B-B14F-4D97-AF65-F5344CB8AC3E}">
        <p14:creationId xmlns:p14="http://schemas.microsoft.com/office/powerpoint/2010/main" val="19655638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923188-D7AD-4FBB-A375-328449F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 故障场景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8BD4ED-0F0F-416C-8C61-E762224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对独立副本注入故障，再检查报告与真实构建日志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057E971-A4B5-4CA6-BB80-BBB16DB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47A210-8DE8-470B-BFF3-8DC9174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E7  /  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03F4F-7BD4-4285-A640-61A46D8BF950}"/>
              </a:ext>
            </a:extLst>
          </p:cNvPr>
          <p:cNvGraphicFramePr/>
          <p:nvPr/>
        </p:nvGraphicFramePr>
        <p:xfrm>
          <a:off xmlns:a="http://schemas.openxmlformats.org/drawingml/2006/main" x="609600" y="280987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52875"/>
                <a:gridCol w="2619375"/>
                <a:gridCol w="4400550"/>
              </a:tblGrid>
              <a:tr h="678656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故障注入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预期状态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必须核对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</a:tr>
              <a:tr h="678656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删除 config.h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FAILED /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build_exit_code 非零，保留构建错误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同任务写出多个最终文件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FAILED /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build_exit_code=0</a:t>
                      </a:r>
                    </a:p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error_code=UNSUPPORTED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678656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recipe 中加入 sleep 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TIMED_OUT /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error_code=TIMEOUT</a:t>
                      </a:r>
                    </a:p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跟踪命令超过预算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三种故障都被正确识别时，对应场景 passed=true">
            <a:extLst xmlns:a="http://schemas.openxmlformats.org/drawingml/2006/main">
              <a:ext uri="{FF2B5EF4-FFF2-40B4-BE49-F238E27FC236}">
                <a16:creationId xmlns:a16="http://schemas.microsoft.com/office/drawing/2014/main" id="{AC1436FF-9F5E-4AB2-AE4F-E88C2058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三种故障都被正确识别时，对应场景 passed=true</a:t>
            </a:r>
          </a:p>
        </p:txBody>
      </p:sp>
    </p:spTree>
    <p:extLst>
      <p:ext uri="{BB962C8B-B14F-4D97-AF65-F5344CB8AC3E}">
        <p14:creationId xmlns:p14="http://schemas.microsoft.com/office/powerpoint/2010/main" val="19655638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923188-D7AD-4FBB-A375-328449F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 操作与结果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8BD4ED-0F0F-416C-8C61-E762224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执行目录：A 仓库根目录。代码框整块复制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057E971-A4B5-4CA6-BB80-BBB16DB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47A210-8DE8-470B-BFF3-8DC9174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E7  /  8</a:t>
            </a:r>
          </a:p>
        </p:txBody>
      </p:sp>
      <p:sp>
        <p:nvSpPr>
          <p:cNvPr id="6" name="操作命令">
            <a:extLst xmlns:a="http://schemas.openxmlformats.org/drawingml/2006/main">
              <a:ext uri="{FF2B5EF4-FFF2-40B4-BE49-F238E27FC236}">
                <a16:creationId xmlns:a16="http://schemas.microsoft.com/office/drawing/2014/main" id="{4EC97559-EC13-4F54-89F6-6D473250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10668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python3 -m unittest discover -s tests/e7 -v</a:t>
            </a:r>
          </a:p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python3 scripts/lab_cloud.py gate --out work/e7-01</a:t>
            </a:r>
          </a:p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echo "E7_GATE_EXIT_CODE=$?"</a:t>
            </a:r>
          </a:p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cat work/e7-01/gate/gate-result.json</a:t>
            </a:r>
          </a:p>
        </p:txBody>
      </p:sp>
      <p:sp>
        <p:nvSpPr>
          <p:cNvPr id="7" name="预期结果">
            <a:extLst xmlns:a="http://schemas.openxmlformats.org/drawingml/2006/main">
              <a:ext uri="{FF2B5EF4-FFF2-40B4-BE49-F238E27FC236}">
                <a16:creationId xmlns:a16="http://schemas.microsoft.com/office/drawing/2014/main" id="{04C86EDE-77E1-456B-A268-0E0ABF59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预期结果</a:t>
            </a:r>
          </a:p>
        </p:txBody>
      </p:sp>
      <p:sp>
        <p:nvSpPr>
          <p:cNvPr id="8" name="独立判定测试：6 tests OK&#10;完整 gate：E7_GATE_E">
            <a:extLst xmlns:a="http://schemas.openxmlformats.org/drawingml/2006/main">
              <a:ext uri="{FF2B5EF4-FFF2-40B4-BE49-F238E27FC236}">
                <a16:creationId xmlns:a16="http://schemas.microsoft.com/office/drawing/2014/main" id="{B312CE08-92F9-462F-8D1F-C05B9E90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独立判定测试：6 tests OK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完整 gate：E7_GATE_EXIT_CODE=0，八项检查全部 passed=true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结果：work/e7-01/gate/gate-result.json、results.csv</a:t>
            </a:r>
          </a:p>
        </p:txBody>
      </p:sp>
    </p:spTree>
    <p:extLst>
      <p:ext uri="{BB962C8B-B14F-4D97-AF65-F5344CB8AC3E}">
        <p14:creationId xmlns:p14="http://schemas.microsoft.com/office/powerpoint/2010/main" val="19655638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923188-D7AD-4FBB-A375-328449F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 验证矩阵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8BD4ED-0F0F-416C-8C61-E762224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共六项检查：服务测试一项，五个真实工作流场景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057E971-A4B5-4CA6-BB80-BBB16DB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47A210-8DE8-470B-BFF3-8DC9174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E7  /  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E2ED4-F2D5-462C-AB87-9C33E88BFAB8}"/>
              </a:ext>
            </a:extLst>
          </p:cNvPr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72800" cy="3400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3000375"/>
                <a:gridCol w="5448300"/>
              </a:tblGrid>
              <a:tr h="485775"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 / 退出码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判定条件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</a:tr>
              <a:tr h="485775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服务单元测试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 passed /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服务测试全部通过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正常候选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SUCCEEDED /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两轮构建、镜像 ID、输出均符合预期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85775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输出不符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FAILED /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output_matches=false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无效候选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构建前 FAILED /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拒绝改变 CMD 的候选，尚无构建轮次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85775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候选构建失败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FAILED /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第二轮 build=1，停止程序验证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运行超时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TIMED_OUT /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第二轮 build=0，超时后清理运行容器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56385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923188-D7AD-4FBB-A375-328449F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 输出与候选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8BD4ED-0F0F-416C-8C61-E762224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对同一构建镜像的输出校验，与构建前的候选校验分别判定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057E971-A4B5-4CA6-BB80-BBB16DB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47A210-8DE8-470B-BFF3-8DC9174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E7  /  10</a:t>
            </a:r>
          </a:p>
        </p:txBody>
      </p:sp>
      <p:sp>
        <p:nvSpPr>
          <p:cNvPr id="6" name="输出校验">
            <a:extLst xmlns:a="http://schemas.openxmlformats.org/drawingml/2006/main">
              <a:ext uri="{FF2B5EF4-FFF2-40B4-BE49-F238E27FC236}">
                <a16:creationId xmlns:a16="http://schemas.microsoft.com/office/drawing/2014/main" id="{196D8E6C-31A2-4002-BC24-575CE21F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输出校验</a:t>
            </a:r>
          </a:p>
        </p:txBody>
      </p:sp>
      <p:sp>
        <p:nvSpPr>
          <p:cNvPr id="7" name="程序实际输出：hello E3，run=0&#10;正常预期：hello E3">
            <a:extLst xmlns:a="http://schemas.openxmlformats.org/drawingml/2006/main">
              <a:ext uri="{FF2B5EF4-FFF2-40B4-BE49-F238E27FC236}">
                <a16:creationId xmlns:a16="http://schemas.microsoft.com/office/drawing/2014/main" id="{ED511A4F-7478-4764-8B57-194B3303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6680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程序实际输出：hello E3，run=0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正常预期：hello E3，output_matches=true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故障预期：intentionally wrong output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报告：FAILED，output_matches=false</a:t>
            </a:r>
          </a:p>
        </p:txBody>
      </p:sp>
      <p:sp>
        <p:nvSpPr>
          <p:cNvPr id="8" name="候选校验">
            <a:extLst xmlns:a="http://schemas.openxmlformats.org/drawingml/2006/main">
              <a:ext uri="{FF2B5EF4-FFF2-40B4-BE49-F238E27FC236}">
                <a16:creationId xmlns:a16="http://schemas.microsoft.com/office/drawing/2014/main" id="{9D0345D7-8AB8-4CCC-A1D0-16F59661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候选校验</a:t>
            </a:r>
          </a:p>
        </p:txBody>
      </p:sp>
      <p:sp>
        <p:nvSpPr>
          <p:cNvPr id="9" name="将 CMD 改成 [&quot;echo&quot;, &quot;hello E3&quot;]&#10;prepa">
            <a:extLst xmlns:a="http://schemas.openxmlformats.org/drawingml/2006/main">
              <a:ext uri="{FF2B5EF4-FFF2-40B4-BE49-F238E27FC236}">
                <a16:creationId xmlns:a16="http://schemas.microsoft.com/office/drawing/2014/main" id="{62BF58C6-C8E4-4B52-8343-3174C81B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将 CMD 改成 ["echo", "hello E3"]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prepare_candidate() 在构建前拒绝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报告：FAILED，attempts 为空，工具 exit=1</a:t>
            </a:r>
          </a:p>
        </p:txBody>
      </p:sp>
    </p:spTree>
    <p:extLst>
      <p:ext uri="{BB962C8B-B14F-4D97-AF65-F5344CB8AC3E}">
        <p14:creationId xmlns:p14="http://schemas.microsoft.com/office/powerpoint/2010/main" val="196556385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923188-D7AD-4FBB-A375-328449F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 运行超时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8BD4ED-0F0F-416C-8C61-E762224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初始与候选 Dockerfile 使用相同的延迟 CMD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057E971-A4B5-4CA6-BB80-BBB16DB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47A210-8DE8-470B-BFF3-8DC9174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E7  /  11</a:t>
            </a:r>
          </a:p>
        </p:txBody>
      </p:sp>
      <p:sp>
        <p:nvSpPr>
          <p:cNvPr id="6" name="操作命令">
            <a:extLst xmlns:a="http://schemas.openxmlformats.org/drawingml/2006/main">
              <a:ext uri="{FF2B5EF4-FFF2-40B4-BE49-F238E27FC236}">
                <a16:creationId xmlns:a16="http://schemas.microsoft.com/office/drawing/2014/main" id="{94DD7381-B8C9-453D-99C5-20653F92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66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CMD ["sh", "-c", "sleep 10; exec ./hello"]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F8AB4-3169-4B13-993C-F0E422B03C09}"/>
              </a:ext>
            </a:extLst>
          </p:cNvPr>
          <p:cNvGraphicFramePr/>
          <p:nvPr/>
        </p:nvGraphicFramePr>
        <p:xfrm>
          <a:off xmlns:a="http://schemas.openxmlformats.org/drawingml/2006/main" x="609600" y="3876675"/>
          <a:ext xmlns:a="http://schemas.openxmlformats.org/drawingml/2006/main" cx="10972800" cy="205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411480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</a:tr>
              <a:tr h="41148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延迟与运行预算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delay_seconds=10，verify_timeout_seconds=1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构建前提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第一轮 MISSING_MAKE，第二轮 build_exit_code=0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运行结果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status=TIMED_OUT，工具 exit=1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清理检查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保存 verify-container-id.txt，确认运行容器已移除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fault-injection.json 记录两个 Dockerfil">
            <a:extLst xmlns:a="http://schemas.openxmlformats.org/drawingml/2006/main">
              <a:ext uri="{FF2B5EF4-FFF2-40B4-BE49-F238E27FC236}">
                <a16:creationId xmlns:a16="http://schemas.microsoft.com/office/drawing/2014/main" id="{74E55787-611E-4227-8C1D-C1065F29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34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fault-injection.json 记录两个 Dockerfile 的修改，项目源文件保持相同</a:t>
            </a:r>
          </a:p>
        </p:txBody>
      </p:sp>
    </p:spTree>
    <p:extLst>
      <p:ext uri="{BB962C8B-B14F-4D97-AF65-F5344CB8AC3E}">
        <p14:creationId xmlns:p14="http://schemas.microsoft.com/office/powerpoint/2010/main" val="196556385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923188-D7AD-4FBB-A375-328449F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 操作与结果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8BD4ED-0F0F-416C-8C61-E762224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执行目录：B 仓库根目录。代码框整块复制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057E971-A4B5-4CA6-BB80-BBB16DB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47A210-8DE8-470B-BFF3-8DC9174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E7  /  12</a:t>
            </a:r>
          </a:p>
        </p:txBody>
      </p:sp>
      <p:sp>
        <p:nvSpPr>
          <p:cNvPr id="6" name="操作命令">
            <a:extLst xmlns:a="http://schemas.openxmlformats.org/drawingml/2006/main">
              <a:ext uri="{FF2B5EF4-FFF2-40B4-BE49-F238E27FC236}">
                <a16:creationId xmlns:a16="http://schemas.microsoft.com/office/drawing/2014/main" id="{1BFF0BFE-2DF4-4658-8EDD-1A1125ED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0668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python3 scripts/lab_cloud.py gate --replay \</a:t>
            </a:r>
          </a:p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--out work/e7-01 --build-timeout 600</a:t>
            </a:r>
          </a:p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echo "E7_GATE_EXIT_CODE=$?"</a:t>
            </a:r>
          </a:p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cat work/e7-01/gate/gate-result.json</a:t>
            </a:r>
          </a:p>
        </p:txBody>
      </p:sp>
      <p:sp>
        <p:nvSpPr>
          <p:cNvPr id="7" name="预期结果">
            <a:extLst xmlns:a="http://schemas.openxmlformats.org/drawingml/2006/main">
              <a:ext uri="{FF2B5EF4-FFF2-40B4-BE49-F238E27FC236}">
                <a16:creationId xmlns:a16="http://schemas.microsoft.com/office/drawing/2014/main" id="{21C700A8-6302-4FA8-9D5C-0DE456D3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预期结果</a:t>
            </a:r>
          </a:p>
        </p:txBody>
      </p:sp>
      <p:sp>
        <p:nvSpPr>
          <p:cNvPr id="8" name="E7_GATE_EXIT_CODE=0，六项检查全部 passed=t">
            <a:extLst xmlns:a="http://schemas.openxmlformats.org/drawingml/2006/main">
              <a:ext uri="{FF2B5EF4-FFF2-40B4-BE49-F238E27FC236}">
                <a16:creationId xmlns:a16="http://schemas.microsoft.com/office/drawing/2014/main" id="{4806F456-75AE-47F2-A8C6-6FFA9C1B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8160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E7_GATE_EXIT_CODE=0，六项检查全部 passed=true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results.csv 与 gate-result.json 一一对应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每个场景保存 command.json、stdout.log、stderr.log 与 evidence/</a:t>
            </a:r>
          </a:p>
        </p:txBody>
      </p:sp>
    </p:spTree>
    <p:extLst>
      <p:ext uri="{BB962C8B-B14F-4D97-AF65-F5344CB8AC3E}">
        <p14:creationId xmlns:p14="http://schemas.microsoft.com/office/powerpoint/2010/main" val="196556385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923188-D7AD-4FBB-A375-328449F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结果文件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8BD4ED-0F0F-416C-8C61-E762224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从整体判定找到对应场景，再回到输入与原始日志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057E971-A4B5-4CA6-BB80-BBB16DB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47A210-8DE8-470B-BFF3-8DC9174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E7  /  13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A456B-AFE3-4D87-9F84-B35914DD7E13}"/>
              </a:ext>
            </a:extLst>
          </p:cNvPr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619625"/>
                <a:gridCol w="4114800"/>
              </a:tblGrid>
              <a:tr h="542925"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核对内容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</a:tr>
              <a:tr h="542925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整体 gate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gate-result.json、results.csv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case、passed、退出码与工具状态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每个场景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command.json、stdout.log、stderr.log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实际调用与原始输出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542925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依赖报告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evidence/findings.json</a:t>
                      </a:r>
                    </a:p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trace/、make-db.txt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trace_id、错误集合与证据行号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构建报告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evidence/result.json、iter-01/、iter-02/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trace_id、候选哈希、image_id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542925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程序运行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verify.log、verify-stderr.log、容器 ID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程序输出、退出码和清理结果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I artifact 同时保存 commit.txt，用于将结果对应">
            <a:extLst xmlns:a="http://schemas.openxmlformats.org/drawingml/2006/main">
              <a:ext uri="{FF2B5EF4-FFF2-40B4-BE49-F238E27FC236}">
                <a16:creationId xmlns:a16="http://schemas.microsoft.com/office/drawing/2014/main" id="{D48C4ABB-D49A-4F3E-B86A-3BED37CF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34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CI artifact 同时保存 commit.txt，用于将结果对应到触发本次运行的提交</a:t>
            </a:r>
          </a:p>
        </p:txBody>
      </p:sp>
    </p:spTree>
    <p:extLst>
      <p:ext uri="{BB962C8B-B14F-4D97-AF65-F5344CB8AC3E}">
        <p14:creationId xmlns:p14="http://schemas.microsoft.com/office/powerpoint/2010/main" val="196556385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923188-D7AD-4FBB-A375-328449F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CI 流水线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8BD4ED-0F0F-416C-8C61-E762224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workflow：.github/workflows/e7-quality-gate.yml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057E971-A4B5-4CA6-BB80-BBB16DB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47A210-8DE8-470B-BFF3-8DC9174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E7  /  14</a:t>
            </a:r>
          </a:p>
        </p:txBody>
      </p:sp>
      <p:sp>
        <p:nvSpPr>
          <p:cNvPr id="6" name="1">
            <a:extLst xmlns:a="http://schemas.openxmlformats.org/drawingml/2006/main">
              <a:ext uri="{FF2B5EF4-FFF2-40B4-BE49-F238E27FC236}">
                <a16:creationId xmlns:a16="http://schemas.microsoft.com/office/drawing/2014/main" id="{E17BD163-F9CA-4C8E-A529-243F46E4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384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检出触发提交，保存 commit.txt 并检查语法">
            <a:extLst xmlns:a="http://schemas.openxmlformats.org/drawingml/2006/main">
              <a:ext uri="{FF2B5EF4-FFF2-40B4-BE49-F238E27FC236}">
                <a16:creationId xmlns:a16="http://schemas.microsoft.com/office/drawing/2014/main" id="{333652ED-4993-4F89-87B3-1E1473BB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765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检出触发提交，保存 commit.txt 并检查语法</a:t>
            </a:r>
          </a:p>
        </p:txBody>
      </p:sp>
      <p:sp>
        <p:nvSpPr>
          <p:cNvPr id="8" name="2">
            <a:extLst xmlns:a="http://schemas.openxmlformats.org/drawingml/2006/main">
              <a:ext uri="{FF2B5EF4-FFF2-40B4-BE49-F238E27FC236}">
                <a16:creationId xmlns:a16="http://schemas.microsoft.com/office/drawing/2014/main" id="{25308B10-9561-4781-871E-0FB8DC42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670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9" name="A 先运行独立判定测试，随后扫描源文件与 Git 历史">
            <a:extLst xmlns:a="http://schemas.openxmlformats.org/drawingml/2006/main">
              <a:ext uri="{FF2B5EF4-FFF2-40B4-BE49-F238E27FC236}">
                <a16:creationId xmlns:a16="http://schemas.microsoft.com/office/drawing/2014/main" id="{67163F4F-F310-424B-A9E5-ABF09A10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 先运行独立判定测试，随后扫描源文件与 Git 历史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EFC90B74-EFDB-4EBF-AEE2-DB43AADF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956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" name="构建服务镜像，保存镜像信息并扫描镜像">
            <a:extLst xmlns:a="http://schemas.openxmlformats.org/drawingml/2006/main">
              <a:ext uri="{FF2B5EF4-FFF2-40B4-BE49-F238E27FC236}">
                <a16:creationId xmlns:a16="http://schemas.microsoft.com/office/drawing/2014/main" id="{7232ED6F-2703-4156-AF66-9F21A003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337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构建服务镜像，保存镜像信息并扫描镜像</a:t>
            </a:r>
          </a:p>
        </p:txBody>
      </p:sp>
      <p:sp>
        <p:nvSpPr>
          <p:cNvPr id="12" name="4">
            <a:extLst xmlns:a="http://schemas.openxmlformats.org/drawingml/2006/main">
              <a:ext uri="{FF2B5EF4-FFF2-40B4-BE49-F238E27FC236}">
                <a16:creationId xmlns:a16="http://schemas.microsoft.com/office/drawing/2014/main" id="{B6B680CC-18B3-4389-8D94-96E91EEA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24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3" name="运行服务单元测试和完整故障门禁">
            <a:extLst xmlns:a="http://schemas.openxmlformats.org/drawingml/2006/main">
              <a:ext uri="{FF2B5EF4-FFF2-40B4-BE49-F238E27FC236}">
                <a16:creationId xmlns:a16="http://schemas.microsoft.com/office/drawing/2014/main" id="{CCF883A5-69A1-4A7B-A86B-8DB57523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624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运行服务单元测试和完整故障门禁</a:t>
            </a:r>
          </a:p>
        </p:txBody>
      </p:sp>
      <p:sp>
        <p:nvSpPr>
          <p:cNvPr id="14" name="5">
            <a:extLst xmlns:a="http://schemas.openxmlformats.org/drawingml/2006/main">
              <a:ext uri="{FF2B5EF4-FFF2-40B4-BE49-F238E27FC236}">
                <a16:creationId xmlns:a16="http://schemas.microsoft.com/office/drawing/2014/main" id="{7D42A908-EBA5-4766-9A0B-7A6BBCB7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5" name="无论成功或失败均归档 work/ci/，保留 14 天">
            <a:extLst xmlns:a="http://schemas.openxmlformats.org/drawingml/2006/main">
              <a:ext uri="{FF2B5EF4-FFF2-40B4-BE49-F238E27FC236}">
                <a16:creationId xmlns:a16="http://schemas.microsoft.com/office/drawing/2014/main" id="{4C958A08-D057-430D-9D6C-27676BFF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910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无论成功或失败均归档 work/ci/，保留 14 天</a:t>
            </a:r>
          </a:p>
        </p:txBody>
      </p:sp>
      <p:sp>
        <p:nvSpPr>
          <p:cNvPr id="16" name="操作命令">
            <a:extLst xmlns:a="http://schemas.openxmlformats.org/drawingml/2006/main">
              <a:ext uri="{FF2B5EF4-FFF2-40B4-BE49-F238E27FC236}">
                <a16:creationId xmlns:a16="http://schemas.microsoft.com/office/drawing/2014/main" id="{953BC537-6387-4680-920B-180143B1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066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gh run list --limit 5</a:t>
            </a:r>
          </a:p>
          <a:p xmlns:a="http://schemas.openxmlformats.org/drawingml/2006/main">
            <a:pPr algn="l">
              <a:defRPr sz="157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read -r -p "本次运行 ID: " run_id</a:t>
            </a:r>
          </a:p>
          <a:p xmlns:a="http://schemas.openxmlformats.org/drawingml/2006/main">
            <a:pPr algn="l">
              <a:defRPr sz="157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gh run watch "$run_id" --exit-status</a:t>
            </a:r>
          </a:p>
          <a:p xmlns:a="http://schemas.openxmlformats.org/drawingml/2006/main">
            <a:pPr algn="l">
              <a:defRPr sz="157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echo "CI_EXIT_CODE=$?"</a:t>
            </a:r>
          </a:p>
        </p:txBody>
      </p:sp>
    </p:spTree>
    <p:extLst>
      <p:ext uri="{BB962C8B-B14F-4D97-AF65-F5344CB8AC3E}">
        <p14:creationId xmlns:p14="http://schemas.microsoft.com/office/powerpoint/2010/main" val="196556385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923188-D7AD-4FBB-A375-328449F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main 分支保护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8BD4ED-0F0F-416C-8C61-E762224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先完成首次正常 CI，再配置必需检查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057E971-A4B5-4CA6-BB80-BBB16DB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47A210-8DE8-470B-BFF3-8DC9174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E7  /  15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340F1-1220-4E1D-A500-FB0627E5DB3E}"/>
              </a:ext>
            </a:extLst>
          </p:cNvPr>
          <p:cNvGraphicFramePr/>
          <p:nvPr/>
        </p:nvGraphicFramePr>
        <p:xfrm>
          <a:off xmlns:a="http://schemas.openxmlformats.org/drawingml/2006/main" x="609600" y="2619375"/>
          <a:ext xmlns:a="http://schemas.openxmlformats.org/drawingml/2006/main" cx="109728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533900"/>
                <a:gridCol w="4533900"/>
              </a:tblGrid>
              <a:tr h="488156">
                <a:tc>
                  <a:txBody>
                    <a:bodyPr lIns="114300" tIns="114300" rIns="114300" bIns="114300"/>
                    <a:lstStyle/>
                    <a:p>
                      <a:r>
                        <a:rPr sz="1463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63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63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</a:tr>
              <a:tr h="488156">
                <a:tc>
                  <a:txBody>
                    <a:bodyPr lIns="114300" tIns="114300" rIns="114300" bIns="114300"/>
                    <a:lstStyle/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必需检查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e7-a-quality-gate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e7-b-quality-gate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 lIns="114300" tIns="114300" rIns="114300" bIns="114300"/>
                    <a:lstStyle/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App 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15368，先与 check-runs 核对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15368，先与 check-runs 核对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88156">
                <a:tc>
                  <a:txBody>
                    <a:bodyPr lIns="114300" tIns="114300" rIns="114300" bIns="114300"/>
                    <a:lstStyle/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两轨道均启用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strict=true，enforce_admins=true</a:t>
                      </a:r>
                    </a:p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required_approvals=0，通过 PR 合并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strict=true，enforce_admins=true</a:t>
                      </a:r>
                    </a:p>
                    <a:p>
                      <a:r>
                        <a:rPr sz="1463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required_approvals=0，通过 PR 合并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操作命令">
            <a:extLst xmlns:a="http://schemas.openxmlformats.org/drawingml/2006/main">
              <a:ext uri="{FF2B5EF4-FFF2-40B4-BE49-F238E27FC236}">
                <a16:creationId xmlns:a16="http://schemas.microsoft.com/office/drawing/2014/main" id="{5DC2CBB0-5795-496A-8D54-9F04E6BE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 anchor="t">
            <a:noAutofit/>
          </a:bodyPr>
          <a:lstStyle xmlns:a="http://schemas.openxmlformats.org/drawingml/2006/main">
            <a:defPPr algn="l">
              <a:defRPr sz="1463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63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repo=$(gh repo view --json nameWithOwner --jq .nameWithOwner)</a:t>
            </a:r>
          </a:p>
          <a:p xmlns:a="http://schemas.openxmlformats.org/drawingml/2006/main">
            <a:pPr algn="l">
              <a:defRPr sz="1463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sha=$(git rev-parse HEAD)</a:t>
            </a:r>
          </a:p>
          <a:p xmlns:a="http://schemas.openxmlformats.org/drawingml/2006/main">
            <a:pPr algn="l">
              <a:defRPr sz="1463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gh api "repos/$repo/commits/$sha/check-runs" \</a:t>
            </a:r>
          </a:p>
          <a:p xmlns:a="http://schemas.openxmlformats.org/drawingml/2006/main">
            <a:pPr algn="l">
              <a:defRPr sz="1463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--jq '.check_runs[] | {name, conclusion, app_id: .app.id, app_slug: .app.slug}'</a:t>
            </a:r>
          </a:p>
        </p:txBody>
      </p:sp>
      <p:sp>
        <p:nvSpPr>
          <p:cNvPr id="8" name="按轨道使用 ../../ci/A-main-protection.js">
            <a:extLst xmlns:a="http://schemas.openxmlformats.org/drawingml/2006/main">
              <a:ext uri="{FF2B5EF4-FFF2-40B4-BE49-F238E27FC236}">
                <a16:creationId xmlns:a16="http://schemas.microsoft.com/office/drawing/2014/main" id="{16E35AD2-724E-4818-B29B-795E3325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按轨道使用 ../../ci/A-main-protection.json 或 B-main-protection.json，完整配置命令见指南 §2</a:t>
            </a:r>
          </a:p>
        </p:txBody>
      </p:sp>
    </p:spTree>
    <p:extLst>
      <p:ext uri="{BB962C8B-B14F-4D97-AF65-F5344CB8AC3E}">
        <p14:creationId xmlns:p14="http://schemas.microsoft.com/office/powerpoint/2010/main" val="196556385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923188-D7AD-4FBB-A375-328449F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失败拦截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8BD4ED-0F0F-416C-8C61-E762224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按 CI 指南 §3 创建故意失败 PR，将 version 返回码预期写成 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057E971-A4B5-4CA6-BB80-BBB16DB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47A210-8DE8-470B-BFF3-8DC9174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E7  /  16</a:t>
            </a:r>
          </a:p>
        </p:txBody>
      </p:sp>
      <p:sp>
        <p:nvSpPr>
          <p:cNvPr id="6" name="操作命令">
            <a:extLst xmlns:a="http://schemas.openxmlformats.org/drawingml/2006/main">
              <a:ext uri="{FF2B5EF4-FFF2-40B4-BE49-F238E27FC236}">
                <a16:creationId xmlns:a16="http://schemas.microsoft.com/office/drawing/2014/main" id="{4E22C007-AC78-44C4-8557-4F37B5F2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0668000" cy="2219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read -r -p "刚创建的 PR 编号: " pr_num</a:t>
            </a:r>
          </a:p>
          <a:p xmlns:a="http://schemas.openxmlformats.org/drawingml/2006/main">
            <a:pPr algn="l">
              <a:defRPr sz="157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gh pr checks "$pr_num" --watch</a:t>
            </a:r>
          </a:p>
          <a:p xmlns:a="http://schemas.openxmlformats.org/drawingml/2006/main">
            <a:pPr algn="l">
              <a:defRPr sz="157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mkdir -p work/ci-rejection</a:t>
            </a:r>
          </a:p>
          <a:p xmlns:a="http://schemas.openxmlformats.org/drawingml/2006/main">
            <a:pPr algn="l">
              <a:defRPr sz="157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gh pr merge "$pr_num" --merge \</a:t>
            </a:r>
          </a:p>
          <a:p xmlns:a="http://schemas.openxmlformats.org/drawingml/2006/main">
            <a:pPr algn="l">
              <a:defRPr sz="157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&gt; work/ci-rejection/merge-rejection.log 2&gt;&amp;1</a:t>
            </a:r>
          </a:p>
          <a:p xmlns:a="http://schemas.openxmlformats.org/drawingml/2006/main">
            <a:pPr algn="l">
              <a:defRPr sz="157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merge_code=$?</a:t>
            </a:r>
          </a:p>
          <a:p xmlns:a="http://schemas.openxmlformats.org/drawingml/2006/main">
            <a:pPr algn="l">
              <a:defRPr sz="157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cat work/ci-rejection/merge-rejection.log</a:t>
            </a:r>
          </a:p>
          <a:p xmlns:a="http://schemas.openxmlformats.org/drawingml/2006/main">
            <a:pPr algn="l">
              <a:defRPr sz="157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echo "MERGE_ATTEMPT_EXIT_CODE=$merge_code"</a:t>
            </a:r>
          </a:p>
        </p:txBody>
      </p:sp>
      <p:sp>
        <p:nvSpPr>
          <p:cNvPr id="7" name="真实记录：assert 0 == 1，A：1 failed / 15 ">
            <a:extLst xmlns:a="http://schemas.openxmlformats.org/drawingml/2006/main">
              <a:ext uri="{FF2B5EF4-FFF2-40B4-BE49-F238E27FC236}">
                <a16:creationId xmlns:a16="http://schemas.microsoft.com/office/drawing/2014/main" id="{920BCEF4-A43F-4ECC-8C3E-812CF788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真实记录：assert 0 == 1，A：1 failed / 15 passed，B：1 failed / 24 passed</a:t>
            </a:r>
          </a:p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PR：OPEN / BLOCKED，普通合并退出码 1</a:t>
            </a:r>
          </a:p>
        </p:txBody>
      </p:sp>
      <p:sp>
        <p:nvSpPr>
          <p:cNvPr id="8" name="X Pull request #2 is not mergeable:">
            <a:extLst xmlns:a="http://schemas.openxmlformats.org/drawingml/2006/main">
              <a:ext uri="{FF2B5EF4-FFF2-40B4-BE49-F238E27FC236}">
                <a16:creationId xmlns:a16="http://schemas.microsoft.com/office/drawing/2014/main" id="{66CC8E38-3069-4AA6-8DB1-52D628F8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63" b="0">
                <a:solidFill>
                  <a:srgbClr val="4B546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63" b="0">
                <a:solidFill>
                  <a:srgbClr val="4B546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4B5466"/>
                </a:solidFill>
                <a:latin typeface="Consolas"/>
                <a:ea typeface="Consolas"/>
                <a:cs typeface="Consolas"/>
              </a:rPr>
              <a:t>X Pull request #2 is not mergeable: the base branch policy prohibits the merge.</a:t>
            </a:r>
          </a:p>
        </p:txBody>
      </p:sp>
    </p:spTree>
    <p:extLst>
      <p:ext uri="{BB962C8B-B14F-4D97-AF65-F5344CB8AC3E}">
        <p14:creationId xmlns:p14="http://schemas.microsoft.com/office/powerpoint/2010/main" val="196556385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923188-D7AD-4FBB-A375-328449F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修复后恢复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8BD4ED-0F0F-416C-8C61-E762224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在同一 PR 中将 version 成功返回码预期改回 0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057E971-A4B5-4CA6-BB80-BBB16DB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47A210-8DE8-470B-BFF3-8DC9174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E7  /  17</a:t>
            </a:r>
          </a:p>
        </p:txBody>
      </p:sp>
      <p:sp>
        <p:nvSpPr>
          <p:cNvPr id="6" name="按 CI 指南 §5 复制本轨道 fixed/ 测试并提交，再执行下方">
            <a:extLst xmlns:a="http://schemas.openxmlformats.org/drawingml/2006/main">
              <a:ext uri="{FF2B5EF4-FFF2-40B4-BE49-F238E27FC236}">
                <a16:creationId xmlns:a16="http://schemas.microsoft.com/office/drawing/2014/main" id="{E11A3497-B24C-482F-9DA5-7BCDC9EF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按 CI 指南 §5 复制本轨道 fixed/ 测试并提交，再执行下方命令</a:t>
            </a:r>
          </a:p>
        </p:txBody>
      </p:sp>
      <p:sp>
        <p:nvSpPr>
          <p:cNvPr id="7" name="操作命令">
            <a:extLst xmlns:a="http://schemas.openxmlformats.org/drawingml/2006/main">
              <a:ext uri="{FF2B5EF4-FFF2-40B4-BE49-F238E27FC236}">
                <a16:creationId xmlns:a16="http://schemas.microsoft.com/office/drawing/2014/main" id="{55B08D06-32C6-4458-B49B-F1AAA80E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106680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38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538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git push</a:t>
            </a:r>
          </a:p>
          <a:p xmlns:a="http://schemas.openxmlformats.org/drawingml/2006/main">
            <a:pPr algn="l">
              <a:defRPr sz="1538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538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gh pr checks "$pr_num" --watch</a:t>
            </a:r>
          </a:p>
          <a:p xmlns:a="http://schemas.openxmlformats.org/drawingml/2006/main">
            <a:pPr algn="l">
              <a:defRPr sz="1538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538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gh pr view "$pr_num" --json state,mergeStateStatus,headRefOid,url</a:t>
            </a:r>
          </a:p>
          <a:p xmlns:a="http://schemas.openxmlformats.org/drawingml/2006/main">
            <a:pPr algn="l">
              <a:defRPr sz="1538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538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gh run list --branch e7-gate-reject-demo --event pull_request --limit 3</a:t>
            </a:r>
          </a:p>
          <a:p xmlns:a="http://schemas.openxmlformats.org/drawingml/2006/main">
            <a:pPr algn="l">
              <a:defRPr sz="1538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538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read -r -p "最新通过的 PR 运行 ID: " pass_run</a:t>
            </a:r>
          </a:p>
          <a:p xmlns:a="http://schemas.openxmlformats.org/drawingml/2006/main">
            <a:pPr algn="l">
              <a:defRPr sz="1538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538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gh run download "$pass_run" --dir "work/ci-recovery/artifacts-$pass_run"</a:t>
            </a:r>
          </a:p>
        </p:txBody>
      </p:sp>
      <p:sp>
        <p:nvSpPr>
          <p:cNvPr id="8" name="确认检查属于最新提交并全部通过后，再执行合并">
            <a:extLst xmlns:a="http://schemas.openxmlformats.org/drawingml/2006/main">
              <a:ext uri="{FF2B5EF4-FFF2-40B4-BE49-F238E27FC236}">
                <a16:creationId xmlns:a16="http://schemas.microsoft.com/office/drawing/2014/main" id="{5C8D777F-B1F4-4691-97B8-275EDE20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确认检查属于最新提交并全部通过后，再执行合并</a:t>
            </a:r>
          </a:p>
        </p:txBody>
      </p:sp>
      <p:sp>
        <p:nvSpPr>
          <p:cNvPr id="9" name="操作命令">
            <a:extLst xmlns:a="http://schemas.openxmlformats.org/drawingml/2006/main">
              <a:ext uri="{FF2B5EF4-FFF2-40B4-BE49-F238E27FC236}">
                <a16:creationId xmlns:a16="http://schemas.microsoft.com/office/drawing/2014/main" id="{BC19BD57-A685-450D-991F-FF676707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10668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gh pr merge "$pr_num" --merge</a:t>
            </a:r>
          </a:p>
          <a:p xmlns:a="http://schemas.openxmlformats.org/drawingml/2006/main">
            <a:pPr algn="l">
              <a:defRPr sz="157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gh pr view "$pr_num" --json state,mergedAt,mergeCommit,url</a:t>
            </a:r>
          </a:p>
        </p:txBody>
      </p:sp>
    </p:spTree>
    <p:extLst>
      <p:ext uri="{BB962C8B-B14F-4D97-AF65-F5344CB8AC3E}">
        <p14:creationId xmlns:p14="http://schemas.microsoft.com/office/powerpoint/2010/main" val="196556385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923188-D7AD-4FBB-A375-328449F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正常通过与恢复通过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8BD4ED-0F0F-416C-8C61-E762224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A、B 均使用同一 PR 的失败与恢复证据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057E971-A4B5-4CA6-BB80-BBB16DB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47A210-8DE8-470B-BFF3-8DC9174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E7  /  18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77DB6-B7F1-4310-829C-278C8FCFE44B}"/>
              </a:ext>
            </a:extLst>
          </p:cNvPr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686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3048000"/>
                <a:gridCol w="3390900"/>
                <a:gridCol w="3390900"/>
              </a:tblGrid>
              <a:tr h="895350"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轨道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正常运行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故意失败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恢复通过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</a:tr>
              <a:tr h="895350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38681967450</a:t>
                      </a:r>
                    </a:p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 passed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38683420506</a:t>
                      </a:r>
                    </a:p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failed / 15 passed</a:t>
                      </a:r>
                    </a:p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OPEN / BLOCKED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38683694031</a:t>
                      </a:r>
                    </a:p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 passed</a:t>
                      </a:r>
                    </a:p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CLEAN，随后 MERGED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38565118826</a:t>
                      </a:r>
                    </a:p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 passed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38567115233</a:t>
                      </a:r>
                    </a:p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failed / 24 passed</a:t>
                      </a:r>
                    </a:p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OPEN / BLOCKED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38580500838</a:t>
                      </a:r>
                    </a:p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 passed</a:t>
                      </a:r>
                    </a:p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CLEAN，随后 MERGED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A 从 15 项增至 16 项，B 从 24 项增至 25 项&#10;新增的">
            <a:extLst xmlns:a="http://schemas.openxmlformats.org/drawingml/2006/main">
              <a:ext uri="{FF2B5EF4-FFF2-40B4-BE49-F238E27FC236}">
                <a16:creationId xmlns:a16="http://schemas.microsoft.com/office/drawing/2014/main" id="{891B9482-C51B-4071-92DC-F96D0680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 从 15 项增至 16 项，B 从 24 项增至 25 项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新增的一项用于验证合并门禁，本次恢复修正测试预期</a:t>
            </a:r>
          </a:p>
        </p:txBody>
      </p:sp>
    </p:spTree>
    <p:extLst>
      <p:ext uri="{BB962C8B-B14F-4D97-AF65-F5344CB8AC3E}">
        <p14:creationId xmlns:p14="http://schemas.microsoft.com/office/powerpoint/2010/main" val="196556385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923188-D7AD-4FBB-A375-328449F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8BD4ED-0F0F-416C-8C61-E762224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按具体日志定位问题，再更换新目录重跑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057E971-A4B5-4CA6-BB80-BBB16DB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47A210-8DE8-470B-BFF3-8DC9174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E7  /  19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D6DF4-59AD-44E6-9305-21850D199F64}"/>
              </a:ext>
            </a:extLst>
          </p:cNvPr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7280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095750"/>
                <a:gridCol w="4162425"/>
              </a:tblGrid>
              <a:tr h="636270"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</a:tr>
              <a:tr h="636270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网络或下载失败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auth.docker.io、连接失败</a:t>
                      </a:r>
                    </a:p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第一轮尚未到 RUN make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检查服务器网络和拉取日志</a:t>
                      </a:r>
                    </a:p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调整构建预算，再用新目录运行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6270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修改测试后仍是旧结果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服务镜像的构建时间与源码提交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重新执行 lab_cloud.py build</a:t>
                      </a:r>
                    </a:p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再运行 E6 或 E7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636270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输出目录已存在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Use a fresh directory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更换 --out work/新目录名</a:t>
                      </a:r>
                    </a:p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保留前次报告与日志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6270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push 后仍显示旧检查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 headRefOid 与最新提交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等待新运行出现</a:t>
                      </a:r>
                    </a:p>
                    <a:p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核对最新 SHA 与运行 ID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B 构建服务使用 bridge 网络，最终程序验证使用 --netwo">
            <a:extLst xmlns:a="http://schemas.openxmlformats.org/drawingml/2006/main">
              <a:ext uri="{FF2B5EF4-FFF2-40B4-BE49-F238E27FC236}">
                <a16:creationId xmlns:a16="http://schemas.microsoft.com/office/drawing/2014/main" id="{8E13C29F-E883-467C-B8CF-67B72EF0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 构建服务使用 bridge 网络，最终程序验证使用 --network none</a:t>
            </a:r>
          </a:p>
        </p:txBody>
      </p:sp>
    </p:spTree>
    <p:extLst>
      <p:ext uri="{BB962C8B-B14F-4D97-AF65-F5344CB8AC3E}">
        <p14:creationId xmlns:p14="http://schemas.microsoft.com/office/powerpoint/2010/main" val="196556385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923188-D7AD-4FBB-A375-328449F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提交与验收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8BD4ED-0F0F-416C-8C61-E762224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提交仓库地址、提交 SHA 与对应 work/ 结果目录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057E971-A4B5-4CA6-BB80-BBB16DB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47A210-8DE8-470B-BFF3-8DC9174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E7  /  20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57EC8-C57A-46E4-B887-8B86EA4C0DAE}"/>
              </a:ext>
            </a:extLst>
          </p:cNvPr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72800" cy="3171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6591300"/>
              </a:tblGrid>
              <a:tr h="528638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提交内容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验收重点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</a:tr>
              <a:tr h="528638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测试报告与代码修改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原始、修复和故障场景的预期与实际一一对应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8638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gate-result.json、results.csv、原始日志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八项、B 六项全部 passed=true，整体 exit=0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528638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CI 正常、失败与恢复记录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结果对应同一 PR 与各自触发提交，artifact 已下载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8638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 分支保护与合并拒绝日志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必需检查名称正确，strict / enforce_admins=true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528638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修复预期与最终合并记录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恢复检查通过，保存 MERGED、mergeCommit 和 mergedAt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报告模板：templates/实验报告.md　　　　验收记录：temp">
            <a:extLst xmlns:a="http://schemas.openxmlformats.org/drawingml/2006/main">
              <a:ext uri="{FF2B5EF4-FFF2-40B4-BE49-F238E27FC236}">
                <a16:creationId xmlns:a16="http://schemas.microsoft.com/office/drawing/2014/main" id="{DE3A98DE-8896-4089-93BA-15A58F10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报告模板：templates/实验报告.md　　　　验收记录：templates/验收记录.csv</a:t>
            </a:r>
          </a:p>
        </p:txBody>
      </p:sp>
    </p:spTree>
    <p:extLst>
      <p:ext uri="{BB962C8B-B14F-4D97-AF65-F5344CB8AC3E}">
        <p14:creationId xmlns:p14="http://schemas.microsoft.com/office/powerpoint/2010/main" val="1965563850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2026-10-15T07:00:52.6000000Z</dcterms:created>
  <dcterms:modified xsi:type="dcterms:W3CDTF">2026-10-15T07:00:52.6010000Z</dcterms:modified>
</coreProperties>
</file>