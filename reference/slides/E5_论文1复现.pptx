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140140e7fd4571" /><Relationship Type="http://schemas.openxmlformats.org/officeDocument/2006/relationships/extended-properties" Target="/docProps/app.xml" Id="R5f3b6a5b2ab3443c" /><Relationship Type="http://schemas.openxmlformats.org/officeDocument/2006/relationships/officeDocument" Target="/ppt/presentation.xml" Id="Rd2707f65d92f45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41bc70dad492a"/>
  </p:sldMasterIdLst>
  <p:notesMasterIdLst>
    <p:notesMasterId xmlns:r="http://schemas.openxmlformats.org/officeDocument/2006/relationships" r:id="R8beaed0dfa864c3e"/>
  </p:notesMasterIdLst>
  <p:sldIdLst>
    <p:sldId xmlns:r="http://schemas.openxmlformats.org/officeDocument/2006/relationships" id="256" r:id="R7eaecc4465434e21"/>
    <p:sldId xmlns:r="http://schemas.openxmlformats.org/officeDocument/2006/relationships" id="257" r:id="Re5741ebcaee549a4"/>
    <p:sldId xmlns:r="http://schemas.openxmlformats.org/officeDocument/2006/relationships" id="258" r:id="R5a6ef6bc001542b6"/>
    <p:sldId xmlns:r="http://schemas.openxmlformats.org/officeDocument/2006/relationships" id="259" r:id="Rccad0202d4b6406c"/>
    <p:sldId xmlns:r="http://schemas.openxmlformats.org/officeDocument/2006/relationships" id="260" r:id="R490f78425e7745ca"/>
    <p:sldId xmlns:r="http://schemas.openxmlformats.org/officeDocument/2006/relationships" id="261" r:id="R4c9d0f5371ae4d41"/>
    <p:sldId xmlns:r="http://schemas.openxmlformats.org/officeDocument/2006/relationships" id="262" r:id="Rd3e1759bd92f4217"/>
    <p:sldId xmlns:r="http://schemas.openxmlformats.org/officeDocument/2006/relationships" id="263" r:id="Re9f072aa6aa744bd"/>
    <p:sldId xmlns:r="http://schemas.openxmlformats.org/officeDocument/2006/relationships" id="264" r:id="R304f76b82a294496"/>
    <p:sldId xmlns:r="http://schemas.openxmlformats.org/officeDocument/2006/relationships" id="265" r:id="Rd54e8b8bf23a45a5"/>
    <p:sldId xmlns:r="http://schemas.openxmlformats.org/officeDocument/2006/relationships" id="266" r:id="Ra78452193fa04dc1"/>
    <p:sldId xmlns:r="http://schemas.openxmlformats.org/officeDocument/2006/relationships" id="267" r:id="R9f35911d95fd487e"/>
    <p:sldId xmlns:r="http://schemas.openxmlformats.org/officeDocument/2006/relationships" id="268" r:id="R05e46335d5574d56"/>
    <p:sldId xmlns:r="http://schemas.openxmlformats.org/officeDocument/2006/relationships" id="269" r:id="R97c8801c8f864120"/>
    <p:sldId xmlns:r="http://schemas.openxmlformats.org/officeDocument/2006/relationships" id="270" r:id="Re6bfac20e4c04217"/>
    <p:sldId xmlns:r="http://schemas.openxmlformats.org/officeDocument/2006/relationships" id="271" r:id="Re6a82777b0b64a68"/>
    <p:sldId xmlns:r="http://schemas.openxmlformats.org/officeDocument/2006/relationships" id="272" r:id="Rcb097575e5ca4691"/>
    <p:sldId xmlns:r="http://schemas.openxmlformats.org/officeDocument/2006/relationships" id="273" r:id="Re6153dc12206403c"/>
    <p:sldId xmlns:r="http://schemas.openxmlformats.org/officeDocument/2006/relationships" id="274" r:id="Rd75888cad0544db7"/>
    <p:sldId xmlns:r="http://schemas.openxmlformats.org/officeDocument/2006/relationships" id="275" r:id="R70cedc128606434c"/>
    <p:sldId xmlns:r="http://schemas.openxmlformats.org/officeDocument/2006/relationships" id="276" r:id="R3f38d6206d5f498b"/>
    <p:sldId xmlns:r="http://schemas.openxmlformats.org/officeDocument/2006/relationships" id="277" r:id="Rc70d3b168fe14dc0"/>
    <p:sldId xmlns:r="http://schemas.openxmlformats.org/officeDocument/2006/relationships" id="278" r:id="R7d1705607b7240f7"/>
    <p:sldId xmlns:r="http://schemas.openxmlformats.org/officeDocument/2006/relationships" id="279" r:id="R948347d439074c8b"/>
    <p:sldId xmlns:r="http://schemas.openxmlformats.org/officeDocument/2006/relationships" id="280" r:id="Rfe189e78d9494358"/>
    <p:sldId xmlns:r="http://schemas.openxmlformats.org/officeDocument/2006/relationships" id="281" r:id="R0e56683298a4439d"/>
    <p:sldId xmlns:r="http://schemas.openxmlformats.org/officeDocument/2006/relationships" id="282" r:id="R4902e1068abc474b"/>
    <p:sldId xmlns:r="http://schemas.openxmlformats.org/officeDocument/2006/relationships" id="283" r:id="R7e2edeaee49a4c0b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1d0b35fd248d0" /><Relationship Type="http://schemas.openxmlformats.org/officeDocument/2006/relationships/slideMaster" Target="/ppt/slideMasters/slideMaster1.xml" Id="R9a041bc70dad492a" /><Relationship Type="http://schemas.openxmlformats.org/officeDocument/2006/relationships/notesMaster" Target="/ppt/notesMasters/notesMaster1.xml" Id="R8beaed0dfa864c3e" /><Relationship Type="http://schemas.openxmlformats.org/officeDocument/2006/relationships/presProps" Target="/ppt/presProps.xml" Id="R73a3e50736dd4d28" /><Relationship Type="http://schemas.openxmlformats.org/officeDocument/2006/relationships/viewProps" Target="/ppt/viewProps.xml" Id="Ra351a249abe54974" /><Relationship Type="http://schemas.openxmlformats.org/officeDocument/2006/relationships/tableStyles" Target="/ppt/tableStyles.xml" Id="R17df61f929154235" /><Relationship Type="http://schemas.openxmlformats.org/officeDocument/2006/relationships/slide" Target="/ppt/slides/slide1.xml" Id="R7eaecc4465434e21" /><Relationship Type="http://schemas.openxmlformats.org/officeDocument/2006/relationships/slide" Target="/ppt/slides/slide2.xml" Id="Re5741ebcaee549a4" /><Relationship Type="http://schemas.openxmlformats.org/officeDocument/2006/relationships/slide" Target="/ppt/slides/slide3.xml" Id="R5a6ef6bc001542b6" /><Relationship Type="http://schemas.openxmlformats.org/officeDocument/2006/relationships/slide" Target="/ppt/slides/slide4.xml" Id="Rccad0202d4b6406c" /><Relationship Type="http://schemas.openxmlformats.org/officeDocument/2006/relationships/slide" Target="/ppt/slides/slide5.xml" Id="R490f78425e7745ca" /><Relationship Type="http://schemas.openxmlformats.org/officeDocument/2006/relationships/slide" Target="/ppt/slides/slide6.xml" Id="R4c9d0f5371ae4d41" /><Relationship Type="http://schemas.openxmlformats.org/officeDocument/2006/relationships/slide" Target="/ppt/slides/slide7.xml" Id="Rd3e1759bd92f4217" /><Relationship Type="http://schemas.openxmlformats.org/officeDocument/2006/relationships/slide" Target="/ppt/slides/slide8.xml" Id="Re9f072aa6aa744bd" /><Relationship Type="http://schemas.openxmlformats.org/officeDocument/2006/relationships/slide" Target="/ppt/slides/slide9.xml" Id="R304f76b82a294496" /><Relationship Type="http://schemas.openxmlformats.org/officeDocument/2006/relationships/slide" Target="/ppt/slides/slide10.xml" Id="Rd54e8b8bf23a45a5" /><Relationship Type="http://schemas.openxmlformats.org/officeDocument/2006/relationships/slide" Target="/ppt/slides/slide11.xml" Id="Ra78452193fa04dc1" /><Relationship Type="http://schemas.openxmlformats.org/officeDocument/2006/relationships/slide" Target="/ppt/slides/slide12.xml" Id="R9f35911d95fd487e" /><Relationship Type="http://schemas.openxmlformats.org/officeDocument/2006/relationships/slide" Target="/ppt/slides/slide13.xml" Id="R05e46335d5574d56" /><Relationship Type="http://schemas.openxmlformats.org/officeDocument/2006/relationships/slide" Target="/ppt/slides/slide14.xml" Id="R97c8801c8f864120" /><Relationship Type="http://schemas.openxmlformats.org/officeDocument/2006/relationships/slide" Target="/ppt/slides/slide15.xml" Id="Re6bfac20e4c04217" /><Relationship Type="http://schemas.openxmlformats.org/officeDocument/2006/relationships/slide" Target="/ppt/slides/slide16.xml" Id="Re6a82777b0b64a68" /><Relationship Type="http://schemas.openxmlformats.org/officeDocument/2006/relationships/slide" Target="/ppt/slides/slide17.xml" Id="Rcb097575e5ca4691" /><Relationship Type="http://schemas.openxmlformats.org/officeDocument/2006/relationships/slide" Target="/ppt/slides/slide18.xml" Id="Re6153dc12206403c" /><Relationship Type="http://schemas.openxmlformats.org/officeDocument/2006/relationships/slide" Target="/ppt/slides/slide19.xml" Id="Rd75888cad0544db7" /><Relationship Type="http://schemas.openxmlformats.org/officeDocument/2006/relationships/slide" Target="/ppt/slides/slide20.xml" Id="R70cedc128606434c" /><Relationship Type="http://schemas.openxmlformats.org/officeDocument/2006/relationships/slide" Target="/ppt/slides/slide21.xml" Id="R3f38d6206d5f498b" /><Relationship Type="http://schemas.openxmlformats.org/officeDocument/2006/relationships/slide" Target="/ppt/slides/slide22.xml" Id="Rc70d3b168fe14dc0" /><Relationship Type="http://schemas.openxmlformats.org/officeDocument/2006/relationships/slide" Target="/ppt/slides/slide23.xml" Id="R7d1705607b7240f7" /><Relationship Type="http://schemas.openxmlformats.org/officeDocument/2006/relationships/slide" Target="/ppt/slides/slide24.xml" Id="R948347d439074c8b" /><Relationship Type="http://schemas.openxmlformats.org/officeDocument/2006/relationships/slide" Target="/ppt/slides/slide25.xml" Id="Rfe189e78d9494358" /><Relationship Type="http://schemas.openxmlformats.org/officeDocument/2006/relationships/slide" Target="/ppt/slides/slide26.xml" Id="R0e56683298a4439d" /><Relationship Type="http://schemas.openxmlformats.org/officeDocument/2006/relationships/slide" Target="/ppt/slides/slide27.xml" Id="R4902e1068abc474b" /><Relationship Type="http://schemas.openxmlformats.org/officeDocument/2006/relationships/slide" Target="/ppt/slides/slide28.xml" Id="R7e2edeaee49a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5b7e9520a44b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8ba0325044a77" /><Relationship Type="http://schemas.openxmlformats.org/officeDocument/2006/relationships/notesMaster" Target="/ppt/notesMasters/notesMaster1.xml" Id="R34e81c25a73a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d78515dd564c68" /><Relationship Type="http://schemas.openxmlformats.org/officeDocument/2006/relationships/notesMaster" Target="/ppt/notesMasters/notesMaster1.xml" Id="R8acdb69c4c2e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4fae513634b0f" /><Relationship Type="http://schemas.openxmlformats.org/officeDocument/2006/relationships/notesMaster" Target="/ppt/notesMasters/notesMaster1.xml" Id="R09a7b229be33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285b4812234c4a" /><Relationship Type="http://schemas.openxmlformats.org/officeDocument/2006/relationships/notesMaster" Target="/ppt/notesMasters/notesMaster1.xml" Id="Rcfefe37e07b7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ff5873a8f41af" /><Relationship Type="http://schemas.openxmlformats.org/officeDocument/2006/relationships/notesMaster" Target="/ppt/notesMasters/notesMaster1.xml" Id="R0e0cc8bc78224d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dd48378874a39" /><Relationship Type="http://schemas.openxmlformats.org/officeDocument/2006/relationships/notesMaster" Target="/ppt/notesMasters/notesMaster1.xml" Id="R5fd63b9fc72a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963892d9824025" /><Relationship Type="http://schemas.openxmlformats.org/officeDocument/2006/relationships/notesMaster" Target="/ppt/notesMasters/notesMaster1.xml" Id="R0689d8c0a1fe4b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b68ace43894bb8" /><Relationship Type="http://schemas.openxmlformats.org/officeDocument/2006/relationships/notesMaster" Target="/ppt/notesMasters/notesMaster1.xml" Id="R2354af8ed0ff47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54a05f1f748ea" /><Relationship Type="http://schemas.openxmlformats.org/officeDocument/2006/relationships/notesMaster" Target="/ppt/notesMasters/notesMaster1.xml" Id="R1d1e9018a7d54a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e9014d8504021" /><Relationship Type="http://schemas.openxmlformats.org/officeDocument/2006/relationships/notesMaster" Target="/ppt/notesMasters/notesMaster1.xml" Id="R514e7211620449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d3b7485dba4919" /><Relationship Type="http://schemas.openxmlformats.org/officeDocument/2006/relationships/notesMaster" Target="/ppt/notesMasters/notesMaster1.xml" Id="Rbd15379abd09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c956c90b674202" /><Relationship Type="http://schemas.openxmlformats.org/officeDocument/2006/relationships/notesMaster" Target="/ppt/notesMasters/notesMaster1.xml" Id="R6341f608799b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35d67ee22b4517" /><Relationship Type="http://schemas.openxmlformats.org/officeDocument/2006/relationships/notesMaster" Target="/ppt/notesMasters/notesMaster1.xml" Id="Rdb1cc32c63f147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b6d2f04355471e" /><Relationship Type="http://schemas.openxmlformats.org/officeDocument/2006/relationships/notesMaster" Target="/ppt/notesMasters/notesMaster1.xml" Id="R78e50799af1f45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d046938d8c4e5d" /><Relationship Type="http://schemas.openxmlformats.org/officeDocument/2006/relationships/notesMaster" Target="/ppt/notesMasters/notesMaster1.xml" Id="Rc6c34e54a83645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1d9cf2544e4a74" /><Relationship Type="http://schemas.openxmlformats.org/officeDocument/2006/relationships/notesMaster" Target="/ppt/notesMasters/notesMaster1.xml" Id="R76148aa0ac5748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5ed6077b674792" /><Relationship Type="http://schemas.openxmlformats.org/officeDocument/2006/relationships/notesMaster" Target="/ppt/notesMasters/notesMaster1.xml" Id="Rfcb83520e1304b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f439d7429e437a" /><Relationship Type="http://schemas.openxmlformats.org/officeDocument/2006/relationships/notesMaster" Target="/ppt/notesMasters/notesMaster1.xml" Id="Rbfb2ef752c8a41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ce8e722bdb41ec" /><Relationship Type="http://schemas.openxmlformats.org/officeDocument/2006/relationships/notesMaster" Target="/ppt/notesMasters/notesMaster1.xml" Id="R31bc1edbd20041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0f434f96e64680" /><Relationship Type="http://schemas.openxmlformats.org/officeDocument/2006/relationships/notesMaster" Target="/ppt/notesMasters/notesMaster1.xml" Id="Ra5cfdf61d7c840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7b30b2a9534077" /><Relationship Type="http://schemas.openxmlformats.org/officeDocument/2006/relationships/notesMaster" Target="/ppt/notesMasters/notesMaster1.xml" Id="Ra3413b34060545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096b7c58be470c" /><Relationship Type="http://schemas.openxmlformats.org/officeDocument/2006/relationships/notesMaster" Target="/ppt/notesMasters/notesMaster1.xml" Id="R525e8c11ae4a46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e67d72f74524aec" /><Relationship Type="http://schemas.openxmlformats.org/officeDocument/2006/relationships/notesMaster" Target="/ppt/notesMasters/notesMaster1.xml" Id="R16158e2b13ed45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36755663b245b5" /><Relationship Type="http://schemas.openxmlformats.org/officeDocument/2006/relationships/notesMaster" Target="/ppt/notesMasters/notesMaster1.xml" Id="Rd8b17c4a61524c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14b58405844bca" /><Relationship Type="http://schemas.openxmlformats.org/officeDocument/2006/relationships/notesMaster" Target="/ppt/notesMasters/notesMaster1.xml" Id="R2bbfe11f3c7a47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55427734f6487c" /><Relationship Type="http://schemas.openxmlformats.org/officeDocument/2006/relationships/notesMaster" Target="/ppt/notesMasters/notesMaster1.xml" Id="R1d336b9a97444bf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b31d88ce2a4de2" /><Relationship Type="http://schemas.openxmlformats.org/officeDocument/2006/relationships/notesMaster" Target="/ppt/notesMasters/notesMaster1.xml" Id="R4c4c1d5a08fa4e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87c1d88de64e83" /><Relationship Type="http://schemas.openxmlformats.org/officeDocument/2006/relationships/notesMaster" Target="/ppt/notesMasters/notesMaster1.xml" Id="R640c1dcfc37d47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今天从 E5 开始，先把论文中的核心流程在一个小样例上跑清楚。A 轨道关注构建依赖，B 轨道关注 Dockerfile 修复。我们会先看懂方法，再在本组云服务器上操作，最后用保存下来的日志解释结果。后面的 E6 和 E7，会分别把这些步骤自动化，并检查程序在正常和故障情况下的表现。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先看这三个阶段各自要完成什么。E5 要把一次执行的输入、过程和结果说清楚，E6 再把这些步骤整理成程序，E7 检查程序是否按预期工作。所以这次操作时，除了看终端是否结束，还要保留输入副本、日志和退出码。B 轨道还需要保存模型的原始回复和候选来源，这些材料后面会继续使用。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E5 先围绕已知答案的样例完成一次复现。A 轨道要解释两条依赖错误，B 轨道要完成从缺少 make 到修复后成功运行的过程。到 E6，我们再让程序自动输出报告、执行构建和验证。E7 则检查重复运行和故障处理。右侧的论文项目留作后续扩展，当前先把样例的证据整理完整。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 A 轨道要解决的问题。Make 根据声明的依赖判断是否需要重新构建，声明漏了，修改文件后可能仍然使用旧产物，声明多了，又可能触发额外重建。这里容易忽略的一点是，clean build 可以正常成功，因为编译器仍然能按 include 找到头文件。因此，我们还需要比较构建实际使用的文件和 Make 声明的文件。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BuildChecker 的核心可以沿着这四步理解。先跟踪一次 clean build，记录构建任务实际读写了哪些文件。同时读取 Make 数据库，得到声明的依赖。接着按同一个目标把两边对齐，实际用到却没有声明的就是 MD，声明了却没有观察到使用的就是 RD。比较范围限定在项目目录内，系统头文件和临时文件先过滤掉。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参考：Detecting Build Dependency Errors by Dynamic Analysis of Build Execution against Declaration，Fig. 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具体看这段记录。cc 启动编译后，会派生 cc1 和 as。t.33 的第 580 行显示，cc1 成功打开了 config.h。再看同一编译任务中的 as，它在 t.34 第 23 行写出了 main.o。把这些进程归到一起，就能把 config.h 的读取对应到 main.o。这里的 cc1 和 as 都由 cc 派生，不能按一条前后串行的进程链来理解。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参考：evidence/E5-A/evidence-round2/t.32、t.33、t.34。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实际依赖有了，下面看声明依赖。make -p app 会在构建 app 的同时打印 Make 数据库，我们从 Files 段提取目标和依赖。这里 main.o 声明依赖 main.c 和 unused.h。如果构建加载了点 d 文件，相应内容也会进入数据库。当前实验按自己的解析规则跳过伪目标和未实例化的模式规则，并保留原始数据库供后面核对。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现在把同一个目标的两组依赖放在一起看。main.o 实际读取 main.c 和 config.h，声明中却写的是 main.c 和 unused.h，所以 config.h 是缺失依赖，unused.h 是当前配置下的冗余依赖。再看 app，两边都只有 main.o，结果一致。E5 的任务就是结合 trace 和 Make 声明，把这两条结论推导出来。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前面讲的是检测方法，这里看论文在更大项目集合上的结果。论文检查了 30 个开源项目，报告 13,579 条依赖错误，其中包含 29 条误报。检测效率分别是 Mkcheck 的 66.24 倍和 Buildfs 的 1.38 倍。理解这些数字时，要把项目范围、报告数量和误报一起看。接下来切换到 B 轨道，看看构建失败怎样为 Dockerfile 修复提供信息。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参考：Detecting Build Dependency Errors by Dynamic Analysis of Build Execution against Declaration，摘要、Table 3/4、§5.2。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轨道关注 Dockerfile 为什么构建失败，以及怎样利用失败信息修复。项目说明通常用自然语言写，依赖或构建步骤可能不完整，直接生成一次 Dockerfile 也可能遗漏关键条件。DRAFT 把实际构建加入流程：先构建，再读取失败日志，把错误反馈给模型，生成下一轮候选。这样每次修改都有具体的构建结果可以对照。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参考：Automatic Dockerfile Generation with Large Language Models，Introduction。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这四步构成一个迭代循环。先根据项目说明准备初始 Dockerfile，构建失败后提取错误，再生成和选择候选，继续构建。课堂样例已经提供起点，我们重点跟踪缺少 make 这次失败是怎样被修复的。候选构建成功后，还要运行生成的镜像，检查程序是否输出 hello E3，这样才能把构建结果和程序行为连起来。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参考：Automatic Dockerfile Generation with Large Language Models，Fig. 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两类提示的区别在于提供给模型的信息。错误驱动提示包含 Dockerfile 和失败日志，上下文驱动提示还加入 README。取得多个候选后，按 R1 到 R4 依次选择：先排除用过的，再看是否有相同候选，然后参考错误关键词，仍无法决定时交给模型。课堂记录中还做了续行归一化比较，具体选择结果放在第 27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参考：Automatic Dockerfile Generation with Large Language Models，§3.4。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再看错误信息怎样进入提示。论文用这些关键词定位相关日志，定位不到时，再把日志末尾 50 行交给模型阅读。课堂脚本会生成错误驱动和上下文驱动两个提示文件，分别供大家使用。取得回复后，保留完整原文，再把 Dockerfile 正文单独保存下来。这样后面就能对照提示、候选和实际构建结果，解释这次修改的依据。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参考：论文 §3.4、Fig. 5/6，以及 scripts/prepare_e5_prompts.py。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 DRAFT 的论文实验结果。在 35 个项目中，构建成功率为 80%，对应 28 个项目，表中还列出了 Copilot 的直接生成结果。耗时中位数为 33.78 秒，镜像体积优化减少 67.14%。这些数字对应论文的实验设置。课堂接下来回到 hello E3 样例，具体完成候选取得、构建和运行，观察这一轮流程怎样结束。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参考：Automatic Dockerfile Generation with Large Language Models，摘要、Table 2/3、§4。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实际操作时，先把脚本生成的提示全文发给对话模型，再把返回的 Dockerfile 保存到 work/candidate 下。原始回复另存为 model-response.txt，模型、时间和选择原因填写到候选来源记录。右侧是包内候选回放路线，E6 可以用 replay 选项直接读取。无论选择哪种输入，后面的构建和运行都要留下对应记录。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轨道现在开始操作，请在本组云服务器的 A 仓库根目录执行。第一条命令采集构建过程，完成后依次查看程序输出、main.o 的声明和包含 config.h 的 trace。预期程序输出为 1，声明中有 unused.h，而实际读取中出现 config.h。接着找到读取它的进程，结合父子关系，写出这次 MD 和 RD 的判断过程。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轨道在 B 仓库根目录执行。第一条命令运行初始构建，并保存日志和提示。随后查看 result-retry.json，预期构建退出码为 1，同时日志到达 RUN make 并出现 make not found。这里采集脚本完成提示生成后会退出 0，两种退出码对应不同层次。接着把两类提示发给模型，保存候选，再按备查页命令手工构建和运行。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写复现说明时，可以按这三项做法来对照。构建跟踪方面，论文使用 ptrace 跟踪器，实验使用 strace。输入方面，我们先用依赖错误和缺少 make 都明确的小样例。候选方面，通过对话模型取得后手工保存。每一项都写清楚采用了什么做法，以及产生了哪些文件，前面的操作就能和论文步骤对应起来。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提交时，按轨道把文件整理完整。A 轨道提交 trace、Make 数据库、程序输出和依赖结论。B 轨道提交失败日志、提示、候选、手工复建及运行记录。报告使用学生包中的实验报告模板，并给出仓库地址、提交 SHA 和结果目录。最后沿着每一条结论回查文件，确认报告中的路径能够找到对应的原始内容。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 E5 前，再检查一次结果是否连贯。A 的读取记录能否对应到 main.o，B 的初始失败和候选成功能否通过日志串起来，候选来源是否完整。完成后就进入 E6，把 A 的依赖比较和 B 的构建验证整理成程序。再到 E7，我们会加入重复运行和故障测试，并检查 CI 失败时能否阻止合并。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如果需要重新采集 A 轨道的原始记录，可以回到这组命令。主入口仍然在 A 仓库执行，脚本会在服务容器中先 clean，再跟踪 make -p app。这里 ff 选项让每个进程各有一份文件，s 4096 保留较长的字符串，文件和进程两类系统调用一起采集。完成后，先核对输出 1，再找到 main.o 的声明和 config.h 的读取位置。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进程归属可以从父子关系逐步确定。先根据 clone 或 fork 记录建立父进程表，再沿父链找到 make 直接派生的构建任务，把这个任务的后代进程合并起来。这样 cc1 的读取和 as 的写出就属于同一次编译。随后按进程工作目录解析相对路径，只统计成功打开的项目文件，得到目标和实际依赖。当前样例采用单 Make 构建。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结论可以按左侧这个顺序记录。先写目标 main.o，再列出实际依赖和声明依赖，然后补上各自的证据路径。读取记录要填写本次运行的真实 trace 文件和行号，并说明它怎样归属于写出 main.o 的任务。最后给出 config.h 为 MD、unused.h 为 RD 的结论。这样 E6 输出结构化报告时，每个字段都有现成的依据。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完成当前样例后，可以从这些论文项目中选择扩展输入。选择时先确认项目版本、GNU Make 构建方式和依赖环境，并让 clean build 成功，再开始跟踪。表中的文件数可以帮助判断起步规模。复现后仍然按同一方式整理实际依赖、声明依赖和证据，再与论文相应项目的记录对照。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参考：BuildChecker 论文 Table 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B 轨道的起点和真实失败日志放在一起。先核对完整的 FROM 摘要，再看 RUN make。日志显示它执行到了这一层，随后出现 make not found，镜像内这条命令退出 127，整个 docker build 返回 1。候选需要增加构建依赖，同时保留项目拷贝、构建和运行指令，之后才能对照观察修复带来的变化。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参考：evidence/E5-B/e5-b-XsZXMk/iter-01/Dockerfile 与 build-retry.log。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提示和候选按这四步保存。脚本先在 iter-01 下生成两类提示，我们分别把完整内容发给对话模型。收到回复后，保留原文，再提取 Dockerfile，并给多个候选编号。最终选择的候选放到 work/candidate 下，同时在来源记录中写清模型、时间和选择理由。这样 E6 读取候选时，可以直接找到它的来历。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这次真实选择记录中，候选 1 和 3 在折叠续行后具有相同的逻辑指令，原始文本仍然不同，最终选择候选 1。下面分两段操作，先执行前四行，确认构建退出码为 0，再获取生成的镜像 ID 并运行。运行时关闭网络，最后检查退出码和 verify.log。预期退出码为 0，输出为 hello E3。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参考：evidence/E5-B/e5-b-XsZXMk/iter-01/candidates/decision.json，matching_candidates=[1,3]、raw_text_identical=false、selected_candidate=1。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轨道扩展时，可以参考表里的项目和版本。先准备相应项目的构建输入，再确定运行后的验证命令，例如 tmux 查看版本，redis 查看服务版本。随后按初始构建、读取日志、取得候选和再次验证的步骤推进。实际复现时，把自己使用的版本、命令和每轮结果单独记录，便于与表中的论文结果对照。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参考：Automatic Dockerfile Generation with Large Language Models，Table 2/3。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4c886c6594d68" /><Relationship Type="http://schemas.openxmlformats.org/officeDocument/2006/relationships/image" Target="/ppt/media/image.png" Id="Rbc8a7d96ad844e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e5e3586064f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7f3f456e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057d0efef4a73" /></Relationships>
</file>

<file path=ppt/slideLayouts/slideLayout1.xml><?xml version="1.0" encoding="utf-8"?>
<p:sldLayout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>
            <a:extLst xmlns:a="http://schemas.openxmlformats.org/drawingml/2006/main">
              <a:ext uri="{FF2B5EF4-FFF2-40B4-BE49-F238E27FC236}">
                <a16:creationId xmlns:a16="http://schemas.microsoft.com/office/drawing/2014/main" id="{1E9837A1-ECC7-47C2-B0B0-037D06084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8a7d96ad844e3f"/>
          <a:srcRect xmlns:a="http://schemas.openxmlformats.org/drawingml/2006/main" l="0" t="0" r="390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8605" y="-464820"/>
            <a:ext cx="2005965" cy="2175510"/>
          </a:xfrm>
          <a:prstGeom xmlns:a="http://schemas.openxmlformats.org/drawingml/2006/main" prst="rect">
            <a:avLst/>
          </a:prstGeom>
        </p:spPr>
      </p:pic>
    </p:spTree>
  </p:cSld>
  <p:hf hdr="0" ftr="0"/>
</p:sldLayout>
</file>

<file path=ppt/slideLayouts/slideLayout2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9C9724-B421-42BE-983E-629C17705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752883-FB1F-4985-8EA7-AA59B8CF1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48FD56-0512-4FBB-94B1-950D1CA904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1C7532-6CC9-4FBC-A553-7A9887AA44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EE698A-1521-44F3-9443-3F07AD5ABF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4CC9687-C888-44D3-973B-D10A233C86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365A782-2DDB-4CF8-8CD6-8DE19E7CBC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EA35350-0F60-46CB-87B8-F23538706E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94C9A7B-A3A2-47C6-BD50-7E38281096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E5895B6-A8AB-4F74-8D5A-00A32CA5EF5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b3c253901432f" /><Relationship Type="http://schemas.openxmlformats.org/officeDocument/2006/relationships/slideLayout" Target="/ppt/slideLayouts/slideLayout1.xml" Id="Rf187736f602e4ae8" /><Relationship Type="http://schemas.openxmlformats.org/officeDocument/2006/relationships/slideLayout" Target="/ppt/slideLayouts/slideLayout2.xml" Id="R3670913fff154c8a" /><Relationship Type="http://schemas.openxmlformats.org/officeDocument/2006/relationships/slideLayout" Target="/ppt/slideLayouts/slideLayout3.xml" Id="R6ecb7039155b44f9" /><Relationship Type="http://schemas.openxmlformats.org/officeDocument/2006/relationships/slideLayout" Target="/ppt/slideLayouts/slideLayout4.xml" Id="R5b24c16230ca46b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C7A1EB-B061-46D0-9177-D84EF83E7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A2DA855-8FF3-467A-8BEB-2BE0192B8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FC1568-84CF-4B27-AE5E-FCC945C0A6A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8A2E0FD-F325-4F7C-87B5-56107B7007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C545CC-307E-45AC-885E-D6F33246B4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7736f602e4ae8"/>
    <p:sldLayoutId xmlns:r="http://schemas.openxmlformats.org/officeDocument/2006/relationships" id="2147483650" r:id="R3670913fff154c8a"/>
    <p:sldLayoutId xmlns:r="http://schemas.openxmlformats.org/officeDocument/2006/relationships" id="2147483651" r:id="R6ecb7039155b44f9"/>
    <p:sldLayoutId xmlns:r="http://schemas.openxmlformats.org/officeDocument/2006/relationships" id="2147483652" r:id="R5b24c16230ca46b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7df8a2d09442b" /><Relationship Type="http://schemas.openxmlformats.org/officeDocument/2006/relationships/image" Target="/ppt/media/image2.png" Id="Red770e4b6cc24efb" /><Relationship Type="http://schemas.openxmlformats.org/officeDocument/2006/relationships/image" Target="/ppt/media/image3.png" Id="R7990aafd07644154" /><Relationship Type="http://schemas.openxmlformats.org/officeDocument/2006/relationships/image" Target="/ppt/media/image4.png" Id="R8e4faa1c46d64ca4" /><Relationship Type="http://schemas.openxmlformats.org/officeDocument/2006/relationships/image" Target="/ppt/media/image5.png" Id="Rfead2a873f244dc0" /><Relationship Type="http://schemas.openxmlformats.org/officeDocument/2006/relationships/image" Target="/ppt/media/image6.png" Id="R6cc267e032514e31" /><Relationship Type="http://schemas.openxmlformats.org/officeDocument/2006/relationships/notesSlide" Target="/ppt/notesSlides/notesSlide1.xml" Id="R175667a8692b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6fd91dfad4ee3" /><Relationship Type="http://schemas.openxmlformats.org/officeDocument/2006/relationships/notesSlide" Target="/ppt/notesSlides/notesSlide2.xml" Id="Rd6e3211f1da641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2e3000b7e49d8" /><Relationship Type="http://schemas.openxmlformats.org/officeDocument/2006/relationships/notesSlide" Target="/ppt/notesSlides/notesSlide3.xml" Id="R894ead3cda15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d102e56364cab" /><Relationship Type="http://schemas.openxmlformats.org/officeDocument/2006/relationships/notesSlide" Target="/ppt/notesSlides/notesSlide4.xml" Id="Rb47805b53401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7bdb083b74192" /><Relationship Type="http://schemas.openxmlformats.org/officeDocument/2006/relationships/notesSlide" Target="/ppt/notesSlides/notesSlide5.xml" Id="Ra61befa8f390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059aeda67479f" /><Relationship Type="http://schemas.openxmlformats.org/officeDocument/2006/relationships/notesSlide" Target="/ppt/notesSlides/notesSlide6.xml" Id="R203846ebc522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a700329254e37" /><Relationship Type="http://schemas.openxmlformats.org/officeDocument/2006/relationships/notesSlide" Target="/ppt/notesSlides/notesSlide7.xml" Id="Rca2f15b1235846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fecb2d4564d67" /><Relationship Type="http://schemas.openxmlformats.org/officeDocument/2006/relationships/notesSlide" Target="/ppt/notesSlides/notesSlide8.xml" Id="R598a6932e233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8ce1b416f43be" /><Relationship Type="http://schemas.openxmlformats.org/officeDocument/2006/relationships/notesSlide" Target="/ppt/notesSlides/notesSlide9.xml" Id="R3711f6c7f4d947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423e26dc14e15" /><Relationship Type="http://schemas.openxmlformats.org/officeDocument/2006/relationships/notesSlide" Target="/ppt/notesSlides/notesSlide10.xml" Id="R5c7e54c3942a47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eec0b35241e0" /><Relationship Type="http://schemas.openxmlformats.org/officeDocument/2006/relationships/notesSlide" Target="/ppt/notesSlides/notesSlide11.xml" Id="Rcd5209d44c3144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5685989c9437a" /><Relationship Type="http://schemas.openxmlformats.org/officeDocument/2006/relationships/notesSlide" Target="/ppt/notesSlides/notesSlide12.xml" Id="R046bb3f6cac945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3a77a3ea41a2" /><Relationship Type="http://schemas.openxmlformats.org/officeDocument/2006/relationships/notesSlide" Target="/ppt/notesSlides/notesSlide13.xml" Id="R3e2d283645714b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76e52edd44103" /><Relationship Type="http://schemas.openxmlformats.org/officeDocument/2006/relationships/notesSlide" Target="/ppt/notesSlides/notesSlide14.xml" Id="Rb40e2752aa854b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6e38d1254a1c" /><Relationship Type="http://schemas.openxmlformats.org/officeDocument/2006/relationships/notesSlide" Target="/ppt/notesSlides/notesSlide15.xml" Id="R95c60f5470da4b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8b3c7652a4437" /><Relationship Type="http://schemas.openxmlformats.org/officeDocument/2006/relationships/notesSlide" Target="/ppt/notesSlides/notesSlide16.xml" Id="R48cc3beebca44e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5b1c48b9a46ac" /><Relationship Type="http://schemas.openxmlformats.org/officeDocument/2006/relationships/notesSlide" Target="/ppt/notesSlides/notesSlide17.xml" Id="R3f7d54d8dd5e43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79a14a97a4c64" /><Relationship Type="http://schemas.openxmlformats.org/officeDocument/2006/relationships/notesSlide" Target="/ppt/notesSlides/notesSlide18.xml" Id="Rf21493a53c824e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0ff728b884308" /><Relationship Type="http://schemas.openxmlformats.org/officeDocument/2006/relationships/notesSlide" Target="/ppt/notesSlides/notesSlide19.xml" Id="R0bcbb69eccd842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d295951c4196" /><Relationship Type="http://schemas.openxmlformats.org/officeDocument/2006/relationships/notesSlide" Target="/ppt/notesSlides/notesSlide20.xml" Id="R375e73f6006f4e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188a565ea4eda" /><Relationship Type="http://schemas.openxmlformats.org/officeDocument/2006/relationships/notesSlide" Target="/ppt/notesSlides/notesSlide21.xml" Id="R632dbbfd965f43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5ecfde3204245" /><Relationship Type="http://schemas.openxmlformats.org/officeDocument/2006/relationships/notesSlide" Target="/ppt/notesSlides/notesSlide22.xml" Id="R4c23216fae524e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d0e01799d4cba" /><Relationship Type="http://schemas.openxmlformats.org/officeDocument/2006/relationships/notesSlide" Target="/ppt/notesSlides/notesSlide23.xml" Id="Rcb9279b266244e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acdcefbce4c3d" /><Relationship Type="http://schemas.openxmlformats.org/officeDocument/2006/relationships/notesSlide" Target="/ppt/notesSlides/notesSlide24.xml" Id="Red4f4b3bcbca48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0c8380db24f33" /><Relationship Type="http://schemas.openxmlformats.org/officeDocument/2006/relationships/notesSlide" Target="/ppt/notesSlides/notesSlide25.xml" Id="R3f915e006ecf48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88795d13b435a" /><Relationship Type="http://schemas.openxmlformats.org/officeDocument/2006/relationships/notesSlide" Target="/ppt/notesSlides/notesSlide26.xml" Id="R9c98faa5cb6e42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b0207a57a44af" /><Relationship Type="http://schemas.openxmlformats.org/officeDocument/2006/relationships/notesSlide" Target="/ppt/notesSlides/notesSlide27.xml" Id="R2b5460e4d3394e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933abbc154a24" /><Relationship Type="http://schemas.openxmlformats.org/officeDocument/2006/relationships/notesSlide" Target="/ppt/notesSlides/notesSlide28.xml" Id="Rfbb1cddcd5e241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13">
            <a:extLst xmlns:a="http://schemas.openxmlformats.org/drawingml/2006/main">
              <a:ext uri="{FF2B5EF4-FFF2-40B4-BE49-F238E27FC236}">
                <a16:creationId xmlns:a16="http://schemas.microsoft.com/office/drawing/2014/main" id="{0765AEAA-9500-4F85-AA66-B246F5DAE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70e4b6cc2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2615" y="-1282700"/>
            <a:ext cx="4442460" cy="4099560"/>
          </a:xfrm>
          <a:prstGeom xmlns:a="http://schemas.openxmlformats.org/drawingml/2006/main" prst="rect">
            <a:avLst/>
          </a:prstGeom>
        </p:spPr>
      </p:pic>
      <p:pic>
        <p:nvPicPr>
          <p:cNvPr id="30" name="图片 14">
            <a:extLst xmlns:a="http://schemas.openxmlformats.org/drawingml/2006/main">
              <a:ext uri="{FF2B5EF4-FFF2-40B4-BE49-F238E27FC236}">
                <a16:creationId xmlns:a16="http://schemas.microsoft.com/office/drawing/2014/main" id="{94B95A39-2214-4017-832C-3D82CFBE7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0aafd0764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1230" y="3771900"/>
            <a:ext cx="3503930" cy="3232785"/>
          </a:xfrm>
          <a:prstGeom xmlns:a="http://schemas.openxmlformats.org/drawingml/2006/main" prst="rect">
            <a:avLst/>
          </a:prstGeom>
        </p:spPr>
      </p:pic>
      <p:pic>
        <p:nvPicPr>
          <p:cNvPr id="31" name="图片 4">
            <a:extLst xmlns:a="http://schemas.openxmlformats.org/drawingml/2006/main">
              <a:ext uri="{FF2B5EF4-FFF2-40B4-BE49-F238E27FC236}">
                <a16:creationId xmlns:a16="http://schemas.microsoft.com/office/drawing/2014/main" id="{E4BF6608-2312-4658-8597-3BC7503BF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faa1c46d6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97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2" name="图片 5">
            <a:extLst xmlns:a="http://schemas.openxmlformats.org/drawingml/2006/main">
              <a:ext uri="{FF2B5EF4-FFF2-40B4-BE49-F238E27FC236}">
                <a16:creationId xmlns:a16="http://schemas.microsoft.com/office/drawing/2014/main" id="{4A0380B6-04C1-44CC-91D2-0EAB46146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faa1c46d6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90753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3" name="图片 20">
            <a:extLst xmlns:a="http://schemas.openxmlformats.org/drawingml/2006/main">
              <a:ext uri="{FF2B5EF4-FFF2-40B4-BE49-F238E27FC236}">
                <a16:creationId xmlns:a16="http://schemas.microsoft.com/office/drawing/2014/main" id="{6DC40AA7-BDBA-48B2-9532-041B6D17B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d2a873f244d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88560"/>
            <a:ext cx="12233910" cy="1869440"/>
          </a:xfrm>
          <a:prstGeom xmlns:a="http://schemas.openxmlformats.org/drawingml/2006/main" prst="rect">
            <a:avLst/>
          </a:prstGeom>
        </p:spPr>
      </p:pic>
      <p:pic>
        <p:nvPicPr>
          <p:cNvPr id="34" name="图片 3">
            <a:extLst xmlns:a="http://schemas.openxmlformats.org/drawingml/2006/main">
              <a:ext uri="{FF2B5EF4-FFF2-40B4-BE49-F238E27FC236}">
                <a16:creationId xmlns:a16="http://schemas.microsoft.com/office/drawing/2014/main" id="{511DBA89-4374-48FF-97DB-C6E2CE020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c267e032514e31"/>
          <a:srcRect xmlns:a="http://schemas.openxmlformats.org/drawingml/2006/main" l="16598" t="0" r="41371" b="32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2455" y="-988999"/>
            <a:ext cx="2341396" cy="2408268"/>
          </a:xfrm>
          <a:prstGeom xmlns:a="http://schemas.openxmlformats.org/drawingml/2006/main" prst="rect">
            <a:avLst/>
          </a:prstGeom>
        </p:spPr>
      </p:pic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0EE8D88-50C8-4B2F-9355-4949C7B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E5 论文1复现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4F552D6-0ACF-488D-9D95-9C771AB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5143500" cy="1294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2026-10-20</a:t>
            </a:r>
            <a:endParaRPr>
              <a:solidFill>
                <a:srgbClr val="B88F4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593539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8691EC-3003-4F70-84EF-493B4DC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实验安排与目标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02FF83-17DB-4865-B4FF-DA77698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在本组云服务器上完成 A：BuildChecker 或 B：DRAFT 实验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0C67DB-5F95-40D2-A875-3291F21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90D366-EA98-4A8E-A920-6915995D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75BD3A-9D56-4FC7-939E-9312827D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A2D8BC-27D0-429D-9986-4514E26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48417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本次要做什么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F101197-E764-44CD-812D-8B52F302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4841748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E5：采集日志，解释单次结果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E6：实现检测与候选构建验证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E7：完成测试、CI 与合并门禁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按阶段保存命令和结果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3D0DE4E-6F93-44A6-AE5A-2736811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321841-042E-470D-BC30-7C32E79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2926080"/>
            <a:ext cx="48417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本次提交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8397A44-DD33-4D27-A4BD-33E958F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3520440"/>
            <a:ext cx="4841748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复现说明与所用代码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输入副本、原始日志和退出码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实际做法与论文步骤的对照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候选原始回复与来源记录</a:t>
            </a:r>
          </a:p>
        </p:txBody>
      </p:sp>
    </p:spTree>
    <p:extLst>
      <p:ext uri="{BB962C8B-B14F-4D97-AF65-F5344CB8AC3E}">
        <p14:creationId xmlns:p14="http://schemas.microsoft.com/office/powerpoint/2010/main" val="12240510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6412D3-BEC0-4CA8-B538-6756B3A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复现要做到什么程度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141F90-E6F6-410B-88BD-E21BAC0A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解释单次流程，E6 自动执行，E7 检查预期结果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D0DDDB-4819-464D-902C-321C469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9D9D25E-F82B-4127-8325-FD1FFE72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2E5A690-CA0F-4197-A4BC-9F86865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5BAD0D-79B1-4C5C-887B-348999A0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E5 基础复现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AFE900-0504-459B-9A47-103C4C8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02152"/>
            <a:ext cx="2256282" cy="899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采集原始日志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手工解释结果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记录复现做法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B18E0D8-A8DE-417E-81A7-F92B7A52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0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2E11EC5-244E-4592-B993-92D499B9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738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BDE32-64B5-4512-8D12-6347A00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E6 MVP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13FCB7-E47B-4453-B8ED-44116F61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3502152"/>
            <a:ext cx="2256282" cy="887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A：检测报告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B：候选构建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与运行验证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F0855A6A-B15C-4CD5-AAFF-12D418A9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196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5B4FD57-35E8-46C0-9125-8117EC4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6065097-472D-447B-9D36-08B9EA65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E7 验证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383188-9631-4DF1-A996-07AEDD3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3502152"/>
            <a:ext cx="2256282" cy="899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重复与故障测试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CI 与合并门禁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F0313C69-10A6-439F-A683-B042633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2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AC2DF36-339B-4A44-8E27-B69D7936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65973C-4429-47C1-8BF5-F5B7572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提高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1BEEED6-0BAB-42BF-A7BB-38817085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3—5 个论文项目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与论文结果对照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解释差异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00219B8-F462-4624-A836-235179FF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57800"/>
            <a:ext cx="11055096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提交所用输入、命令、原始结果及证据路径，说明与论文步骤的对应关系</a:t>
            </a:r>
            <a:endParaRPr sz="17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814666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3C3377-3C0D-4717-873D-3FFCF4E3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A｜BuildChecker 要解决的问题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F0C674-7038-450F-BAFF-6002BFB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TSE 论文：通过动态分析“构建执行 × 构建声明”检测依赖错误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0E729B-FC73-4C6C-B0B7-2F88BE06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163FF-30E5-4628-97E6-8281923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D360C5C-96E8-4C47-A7DF-8F6387D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2563EC-69A7-44F0-AB87-E6C71067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48417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两类依赖错误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44E9CCC-DE93-4F5A-859D-EBB443B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48417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MD：实际用到，Makefile 没声明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RD：声明了，构建时没用到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→ 增量构建用了旧产物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RD → 多余重编译、限制并行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CE5B54-39D9-4BE2-AC55-5DF5227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85BC4D-4D04-49F1-ABD1-D3347308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2926080"/>
            <a:ext cx="48417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为什么难发现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D44B652-38B9-4951-8EC2-6D5CBEB8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3520440"/>
            <a:ext cx="4841748" cy="1710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可以成功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编译器按 #include 查找头文件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依赖错误常在增量构建时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表现为漏重建或多余重建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静态解析 Makefile 不完整</a:t>
            </a:r>
          </a:p>
        </p:txBody>
      </p:sp>
    </p:spTree>
    <p:extLst>
      <p:ext uri="{BB962C8B-B14F-4D97-AF65-F5344CB8AC3E}">
        <p14:creationId xmlns:p14="http://schemas.microsoft.com/office/powerpoint/2010/main" val="6073783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3E70E8-6CD9-4FD2-97F9-C135A3BC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A｜方法：执行模型 × 声明模型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82633E-A144-42BC-8472-9F3F65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论文 Fig. 2：一次 clean build 同时得到两张图，再逐个目标比较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B062B2-F4C9-4093-8905-476856F5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4267AA-C452-4A1F-AF0E-208F67C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31852A-2373-4A79-A701-5C5DC99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EABCDE-4616-4B6F-A8B1-0564AC5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① 构建执行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1EBB96-7C34-44D5-AD86-11AAC5E7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跟踪 clean build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的进程与文件读写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（论文用 ptrace）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7EB8E51B-0510-4E5B-8126-BE2989D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0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327464-6DE3-44ED-8D56-FBB1835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738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0D6883-B760-4129-AD4C-79582828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② 构建声明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BB6891-F685-4B1A-91E2-7FCF1F2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读取 GNU Make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内部数据库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-p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192A2A1-2EC5-4A7D-9724-6A84A260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196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24F574-C1B8-469C-A833-C4B578F3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354A8E-F7DA-4B05-8926-210178A7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③ 建模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1FF15D-CD10-42C5-A172-100A9A4D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每个目标：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实际依赖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声明依赖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920E3700-32F1-4B4D-9534-8D103B7B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2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171200-7E76-4F1B-880E-3796216C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7AC1492-51FE-471C-8602-D25787E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④ 检测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B5BDA4-908A-4B5C-B39F-55129B3B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 − 声明 = MD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 − 实际 = RD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EA12D68-0487-4BD2-87B2-87FC268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57800"/>
            <a:ext cx="11055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只比较 </a:t>
            </a: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项目目录内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的文件：系统头文件、/tmp 中间文件不算依赖错误</a:t>
            </a:r>
          </a:p>
        </p:txBody>
      </p:sp>
    </p:spTree>
    <p:extLst>
      <p:ext uri="{BB962C8B-B14F-4D97-AF65-F5344CB8AC3E}">
        <p14:creationId xmlns:p14="http://schemas.microsoft.com/office/powerpoint/2010/main" val="9408439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DE79EE-15D1-4B2C-8C9A-5E64DA4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A｜步骤①：从系统调用得到实际依赖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DD6CA1-A300-4573-A90D-7D9E381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系统调用记录节选：t.33 读取 config.h，t.34 写出 main.o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60B123-B5C5-4C7B-AF7E-18D83F9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376D9E-9B0B-4DE1-ABAF-BBFA268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784B61-07AB-4557-B9EC-E34B486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683971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258DD-960B-4B9E-9570-5D1A671F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519672" cy="194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50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t.32：编译作业的 cc 进程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execve("/usr/bin/cc", ["cc", "-c", "main.c",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 "-o", "main.o"], ...) = 0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t.33：cc 派生的 cc1 进程，第 580 行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openat(AT_FDCWD, "config.h",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 O_RDONLY|O_NOCTTY) = 4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t.34：cc 派生的 as 进程，第 23 行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openat(AT_FDCWD, "main.o",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 O_RDWR|O_CREAT|O_TRUNC, 0666) = 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41BF014-CE35-4EA8-9845-33DD524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79192"/>
            <a:ext cx="38313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3C735E-6E2F-4627-B213-45AA466B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64992"/>
            <a:ext cx="3831335" cy="18122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派生的 cc1、as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同属一个构建任务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最终写出文件归为目标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成功读打开归为实际依赖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过滤 /usr/include 与 /tmp</a:t>
            </a:r>
          </a:p>
        </p:txBody>
      </p:sp>
    </p:spTree>
    <p:extLst>
      <p:ext uri="{BB962C8B-B14F-4D97-AF65-F5344CB8AC3E}">
        <p14:creationId xmlns:p14="http://schemas.microsoft.com/office/powerpoint/2010/main" val="3009538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8B5F81-821C-40E2-AAB2-70AFA76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A｜步骤②：从 Make 数据库得到声明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DFC981A-9DA3-48B0-8F5B-E6940AE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对 make -p app 生成的 Files 段提取声明依赖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83DDD59-3846-4492-A436-CFB8875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98F6B56-11BB-47EA-AEF5-BEDE78A9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AD51EF-A79A-4E95-9A44-F022777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683971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B7FAA7-F02D-42E3-9F78-0DDB1EEA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519672" cy="1531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50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make -p app &gt; make-db.txt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t/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Files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main.o: main.c unused.h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 recipe to execute (from 'Makefile', line 6):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	$(CC) -c main.c -o main.o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D11C235-411D-4558-ACB1-1C8F31B6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79192"/>
            <a:ext cx="38313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48FB70C-726F-4BE8-82E1-E952DE8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64992"/>
            <a:ext cx="3831335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已加载的 .d 内容进入数据库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按本实验解析规则跳过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伪目标与未实例化模式规则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保存数据库及解析结果</a:t>
            </a:r>
          </a:p>
        </p:txBody>
      </p:sp>
    </p:spTree>
    <p:extLst>
      <p:ext uri="{BB962C8B-B14F-4D97-AF65-F5344CB8AC3E}">
        <p14:creationId xmlns:p14="http://schemas.microsoft.com/office/powerpoint/2010/main" val="4694575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DBFAC2-1558-43E7-B47B-B748F441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A｜步骤③④：比较得到 MD / RD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56EF2F-3DA7-4940-AFC4-1BF4CB4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论文 Algorithm 2：同一目标两边求差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02CD32A-DE4C-406C-BE28-03DB7E6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84D3D0-4491-4D41-9A7E-BA25294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8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A37C9A93-E86D-4CD9-B727-B4CD314CC9A4}"/>
              </a:ext>
            </a:extLst>
          </p:cNvPr>
          <p:cNvGraphicFramePr/>
          <p:nvPr/>
        </p:nvGraphicFramePr>
        <p:xfrm>
          <a:off xmlns:a="http://schemas.openxmlformats.org/drawingml/2006/main" x="612648" y="2651760"/>
          <a:ext xmlns:a="http://schemas.openxmlformats.org/drawingml/2006/main" cx="10972800" cy="21945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  <a:gridCol w="2926080"/>
              </a:tblGrid>
              <a:tr h="73152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实际依赖（strace）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声明依赖（make -p）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main.c、config.h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main.c、unused.h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MD：config.h</a:t>
                      </a:r>
                    </a:p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RD：unused.h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73D8B3-650A-4D1B-950B-77F4F04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120640"/>
            <a:ext cx="10972800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E5 提交：用原始 trace 和 Make 声明解释 MD/RD，连续三次一致在 E7 检查</a:t>
            </a:r>
          </a:p>
        </p:txBody>
      </p:sp>
    </p:spTree>
    <p:extLst>
      <p:ext uri="{BB962C8B-B14F-4D97-AF65-F5344CB8AC3E}">
        <p14:creationId xmlns:p14="http://schemas.microsoft.com/office/powerpoint/2010/main" val="18864624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3F147A6-045B-4224-9AF4-A87FCFE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A｜论文实验结果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F6DBF3B-A16E-4D4C-98E4-E1390D9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在 30 个 GNU Make / CMake 项目上，与 Mkcheck、Buildfs、VeriBuild、VirtualBuild 对比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FB96F7-2063-4CEE-8445-A25B59D1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5797D3-BFAA-4C71-8294-5D3DCAA6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116AA2C-4019-412A-9525-0390B6B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7B6065-5511-4FF7-A656-EAFE0D26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019E402-3F95-4E8B-9EBD-82F3636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个开源项目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38CFED-1D40-4943-9396-A318C23C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721236-E9CF-495C-8926-49859DD0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13,579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96F661-0AC9-44D3-82BB-6E91BD6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4160520"/>
            <a:ext cx="2489454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条依赖错误报告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D581288-8936-46FF-8624-1AAA2D2B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A443C1-6B79-480B-9335-DF50358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98E99E-AE3F-4D25-8F2A-73319EE3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4160520"/>
            <a:ext cx="2489454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条为误报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F7444D-9DC5-46B5-930C-7F666E0F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1BB7E5-4504-4383-A708-DB8700A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66.24×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E80D9B-EAFB-420A-AAE3-585FAB21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快于 Mkcheck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8BAA95-A7F2-49C9-BC92-40D82CD0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12080"/>
            <a:ext cx="1106424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论文报告 13,579 条依赖错误，其中 29 条为误报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检测效率：Mkcheck 的 66.24 倍，Buildfs 的 1.38 倍</a:t>
            </a:r>
          </a:p>
        </p:txBody>
      </p:sp>
    </p:spTree>
    <p:extLst>
      <p:ext uri="{BB962C8B-B14F-4D97-AF65-F5344CB8AC3E}">
        <p14:creationId xmlns:p14="http://schemas.microsoft.com/office/powerpoint/2010/main" val="5456311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9636A33-C455-4B1B-AF35-73EC3DF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B｜DRAFT 要解决的问题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D291DE-8D2D-43E3-B82A-C53CEB4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ICSE'26 论文：用 LLM 迭代生成并修复 Dockerfile，直到项目能在镜像里构建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CF88B9-AC4B-4DAC-99AB-52774B99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5E5D0F-5462-452C-B915-5D8C1F2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5EA68E-F1C2-4209-B772-41292EB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F47AB2-04BC-475B-A982-4A070104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48417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为什么需要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A5DAF7E-15D7-4346-A8C6-39C60D6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48417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README 用自然语言写构建步骤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常漏依赖：FFmpeg 没写 nasm/yasm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超过 1/3 的 Dockerfile 构建失败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手写一个常要 20 分钟到 2 小时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6E4F0EF-AC14-4E7F-85AF-F673C10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82204F-9816-46AA-8188-0A5578FE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2926080"/>
            <a:ext cx="48417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构建反馈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19BC7C-8345-407D-8FA4-10BD0CA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3520440"/>
            <a:ext cx="4841748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Copilot 直接生成：31.43% 成功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构建失败日志提供修复线索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 迭代构建并修改候选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以构建与程序输出判断结果</a:t>
            </a:r>
          </a:p>
        </p:txBody>
      </p:sp>
    </p:spTree>
    <p:extLst>
      <p:ext uri="{BB962C8B-B14F-4D97-AF65-F5344CB8AC3E}">
        <p14:creationId xmlns:p14="http://schemas.microsoft.com/office/powerpoint/2010/main" val="14994291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A5F03DF-9DA7-4C6B-936F-D7189FC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B｜方法：迭代修复循环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618F3F-EACA-4D90-8023-E67F398D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论文 Fig. 4：失败回到②；构建成功且验证命令通过即结束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43632B-577C-423C-86D1-80A508F6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4510C-F9FC-481D-9563-84D1731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2DE9572-6455-4337-BCBE-E31EFDC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794D0-5502-455E-945F-B3FF678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① 预处理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28352AE-A7AB-43A1-AFB2-084CB6C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读 README 作上下文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生成初始 Dockerfile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A2CFDB25-064D-4FB0-B188-C3E526E1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0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CB15F97-CB12-4A97-9752-9A215630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738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980FBC-CAF9-4FAD-9764-61FE33A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② 构建与定位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72FE26-2E01-4B32-9ADD-27EE4015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build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关键词 + 末 50 行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定位错误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7A2825DD-843E-442B-A671-E025DB39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196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116A999-8154-4A27-8DA1-C5D1AC09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7B49A0-F8A8-4439-920E-56805DA8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③ 生成候选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4704D4D-B9A4-4C09-B34D-DD2B10D9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错误驱动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上下文驱动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每次 3 个候选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7D2687C3-00D9-4A88-80D9-09300B6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2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3D91E6-09FF-486F-95AE-00CBE644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2F3D09-BAD2-4FEC-947C-7D31111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2953512"/>
            <a:ext cx="22562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④ 选择候选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6D7E0C-C931-4CD0-A3ED-87CD051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3502152"/>
            <a:ext cx="225628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规则 R1—R4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 1 个再构建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25F2A5-C52F-4CA9-93AF-2360DF66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57800"/>
            <a:ext cx="11055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成功判据：</a:t>
            </a: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镜像构建成功 且 容器内验证命令得到预期输出（本样例：</a:t>
            </a:r>
            <a:r>
              <a:rPr sz="17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hello E3</a:t>
            </a: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603947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C1FD9A-7A95-436B-826D-D1C5A7B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B｜两类提示与四条选择规则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EA086C-7852-4E36-BCF6-F4A1B77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错误驱动 = Dockerfile + 错误日志；上下文驱动 = 再加上 README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75301C-A6F2-4425-BF6D-188D2F3A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363BD89-0A16-40FC-AC07-1924634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0C414D-9B0A-4C58-ADC4-884B2DF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2558034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1E14A8-0019-4CC8-AD39-900B29AE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21008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R1 未用过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9AE6F4B-D1EA-473A-8C8B-3D7EE24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210083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排除历史上已经构建过的 Dockerfile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1807E2-9B79-4483-BCF2-6ED0A93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306" y="2697480"/>
            <a:ext cx="2558034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179FE33-BB2C-416C-867F-A731694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337" y="2926080"/>
            <a:ext cx="21008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R2 多数一致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3898B46-23F6-4058-BE22-9E4FDD30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337" y="3520440"/>
            <a:ext cx="2100834" cy="963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三个候选中相同者优先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课堂记录的续行归一化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比较见第 27 页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E116090-6F3A-4D23-820E-AD88B40C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59" y="2697480"/>
            <a:ext cx="2558034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25B723-A59E-4BEA-8C28-9477588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692" y="2926080"/>
            <a:ext cx="21008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R3 关键词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28CAAE-2A5C-4193-9926-2F1652AE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692" y="3520440"/>
            <a:ext cx="210083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候选里包含错误行核心词的优先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90DB7A-DBB3-4B76-AD5D-AC71668C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013" y="2697480"/>
            <a:ext cx="2558034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0C6216-E79A-48E3-B1F0-F600C77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045" y="2926080"/>
            <a:ext cx="210083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9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R4 交给 LLM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4F4A9F3-A176-4E4D-85CB-EDDDE0D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045" y="3520440"/>
            <a:ext cx="210083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前三条无法决定时，由模型从候选中选择</a:t>
            </a:r>
          </a:p>
        </p:txBody>
      </p:sp>
    </p:spTree>
    <p:extLst>
      <p:ext uri="{BB962C8B-B14F-4D97-AF65-F5344CB8AC3E}">
        <p14:creationId xmlns:p14="http://schemas.microsoft.com/office/powerpoint/2010/main" val="4428532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33A607-C250-4048-B50E-FE35122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B｜错误定位与提示格式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A394FB-F1C9-4048-BA1E-6C09A36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论文 §3.4 的错误关键词与提示结构，课堂提示文件由脚本生成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091FD-50A3-4D91-B200-B7AA46F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A712E0-D8BB-406B-94E7-D054E77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B108A9-EE16-45F1-9DAC-0D0FC65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683971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E53FE4-A0A5-4207-92C6-8276C79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519672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50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论文 §3.4 的关键词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error  unknown  missing  not specified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no such file or directory  file not found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failed to execute  execution failed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unable to locate package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no matching distribution found for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t/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实验提示文件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prompt-error-driven.txt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prompt-context-driven.txt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AEDF87-F4B3-4030-A1A4-0AF02FB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79192"/>
            <a:ext cx="38313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A64921-3289-4711-9225-E37878A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64992"/>
            <a:ext cx="3831335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错误驱动：Dockerfile 与日志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上下文驱动：再加入 README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取得候选后保存完整回复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 正文去掉代码围栏</a:t>
            </a:r>
          </a:p>
        </p:txBody>
      </p:sp>
    </p:spTree>
    <p:extLst>
      <p:ext uri="{BB962C8B-B14F-4D97-AF65-F5344CB8AC3E}">
        <p14:creationId xmlns:p14="http://schemas.microsoft.com/office/powerpoint/2010/main" val="12512423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DF19B0-CC8D-4590-BC90-4CFC52AB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B｜论文实验结果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7F8038-6342-4F6F-AC69-8592775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35 个项目、5 种语言（C、Go、Java、Python、Ruby），使用 ChatGPT 3.5 / DeepSeek-v3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BEC2D2-7DB1-459F-8DAD-54239AE1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3DE22BF-987E-4576-98ED-5F16792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520A01-0E14-4866-9B32-2E41E292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AD18FC-BE16-444E-9F0A-2F853E7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B03386-BBD6-429D-90E7-4784517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构建成功（28/35）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0324E13-7E8B-4206-B105-FF1EFC3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3BBCB2-5A1F-43EE-92AA-B1E79D51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4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31.43%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17533B-83EE-405F-856F-91F8D9DB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166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Copilot 直接生成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73D0F38-691E-46EF-BB89-1BFE938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EB7900-D516-4299-80D1-063EB21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3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33.78 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30CD96-766D-4EE6-AC63-F2A7860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耗时中位数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3865E9B-0035-444F-ACB1-01DB13F7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2926080"/>
            <a:ext cx="2489454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1E19E7-5AAD-4493-B598-BA09E84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3154680"/>
            <a:ext cx="248945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3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−67.14%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B98973-860C-4DAF-AACF-C44A90E1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4160520"/>
            <a:ext cx="248945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优化后镜像体积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468CCF-3159-47C6-9294-5C540A0B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12080"/>
            <a:ext cx="1106424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最长耗时 19.57 分钟，向维护者提交 25 个 PR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以上为论文的实验结果，课堂以 hello E3 样例完成构建与运行</a:t>
            </a:r>
          </a:p>
        </p:txBody>
      </p:sp>
    </p:spTree>
    <p:extLst>
      <p:ext uri="{BB962C8B-B14F-4D97-AF65-F5344CB8AC3E}">
        <p14:creationId xmlns:p14="http://schemas.microsoft.com/office/powerpoint/2010/main" val="9723522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0CBFECA-EFDC-4230-8767-BCEFFEA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B｜取得与保存模型候选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13F0F90-2BB9-49EC-A3C9-650A827F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将实验提示全文发送给对话模型，保存候选 Dockerfile 与原始回复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B06198-AA50-450F-A269-D3876D2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CFC0ADB-D304-4A92-86CA-7C455C3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EC9557-BF6E-4004-8509-8A9A6BD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D6CF83-B64C-45BB-BFFE-33D0300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48417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对话模型候选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D07F4A-F1CB-4A26-A212-70D79269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4841748" cy="12576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38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38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分别使用错误驱动、上下文驱动提示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38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将候选保存到 work/candidate/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38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原始回复：model-response.txt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38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来源：templates/候选来源记录.json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C315F0A-D2F6-4F4F-B3EC-871294E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66A8E5-2E89-4863-BE62-CE88979F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2926080"/>
            <a:ext cx="48417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包内候选回放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EE57F2-0E9C-4DF5-AB31-9FB02924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3520440"/>
            <a:ext cx="484174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--replay 使用已保存的 DeepSeek 候选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与自己的候选分别记录来源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保存候选编号、哈希和选择理由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 自动完成候选构建与运行</a:t>
            </a:r>
          </a:p>
        </p:txBody>
      </p:sp>
    </p:spTree>
    <p:extLst>
      <p:ext uri="{BB962C8B-B14F-4D97-AF65-F5344CB8AC3E}">
        <p14:creationId xmlns:p14="http://schemas.microsoft.com/office/powerpoint/2010/main" val="10695484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DF4B9B-13B4-4534-A158-10271E1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当堂任务：A 组 BuildChecker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6E3818-2FA0-4ACD-9CD7-F4A91FB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执行目录：本组云服务器的 labs/A-buildchecker 仓库根目录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3675B0-3C70-446C-9672-1FADE3E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0207AF-DAFF-4804-A3D2-9E6EC44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10E00A7-0A0D-4DEB-9A93-9ECB4A2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51760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3FA916C-9E9A-422D-B1D0-7894696B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51760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593A7BC-19E5-4596-BACD-0D8648D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651760"/>
            <a:ext cx="8549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500"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scripts/lab_cloud.py e5 --out work/e5-01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3F8F59-428F-43B3-BC25-466D32CE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346704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C06173-E8C0-4225-8E30-C25D82D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346704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7E7EF1-0568-4EB9-B893-614FA94C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346704"/>
            <a:ext cx="8549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500"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cat work/e5-01/evidence/program-output.txt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861A36-E870-4789-A69C-FF63B93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41648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F9DA77-8EFB-42A3-A8C1-BF139A50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41648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42D543-697C-4BED-9E3E-B87D0207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041648"/>
            <a:ext cx="8549640" cy="30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425"/>
            </a:pPr>
            <a:r>
              <a:rPr sz="14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grep -n '^main.o:' work/e5-01/evidence/make-db.txt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2C1953-15C5-418C-B9BF-E9101C6C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736592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57FE38-FF1F-4D64-A2AB-8032C087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736592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CEA60CE-36FF-4958-A486-9C8549E7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736592"/>
            <a:ext cx="8549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500"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grep -n 'config.h' work/e5-01/evidence/trace/t.*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B0EB6E6-6A5B-439F-88F6-B0E45B8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31536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CAEE1CA-735D-4FDC-A528-4B5D8E5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31536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4C0344D-D407-4582-96D4-389DD0F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431536"/>
            <a:ext cx="854964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预期：输出 1，MD 为 config.h，RD 为 unused.h；记录进程归属与证据行</a:t>
            </a:r>
          </a:p>
        </p:txBody>
      </p:sp>
    </p:spTree>
    <p:extLst>
      <p:ext uri="{BB962C8B-B14F-4D97-AF65-F5344CB8AC3E}">
        <p14:creationId xmlns:p14="http://schemas.microsoft.com/office/powerpoint/2010/main" val="161967491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4885FF4-EFD0-475C-A589-D973B872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当堂任务：B 组 DRAFT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11F440-5B21-4B93-9654-8B5FE18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执行目录：本组云服务器的 labs/B-draft 仓库根目录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59C7A4-81E2-4A1A-BB78-F0D9FACF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35B57DA-D2E0-4B60-B0F6-959BB13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916241-D335-4617-B2EA-68596D5D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51760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89122B-1DAF-47F7-970A-4D775B48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51760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4E3A458-587B-4E5B-BD20-7770359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651760"/>
            <a:ext cx="8549640" cy="291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313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313"/>
            </a:pPr>
            <a:r>
              <a:rPr sz="1313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scripts/lab_cloud.py e5 --out work/e5-01 --build-timeout 600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184848-B5AA-4F73-839B-1646902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346704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60FFC1E-51A5-40BC-AF95-C55C4E1D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346704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AE02F2-C31C-4CEB-86FE-ACF04A6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346704"/>
            <a:ext cx="8549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500"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cat work/e5-01/iter-01/result-retry.json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E12F71-599D-472E-8E17-549ABC6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41648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C4553E7-C88E-4388-ABD6-CD12480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41648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C7360E-AF21-4F34-9481-B2C22079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041648"/>
            <a:ext cx="8549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  <a:defRPr sz="1500"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cat work/e5-01/iter-01/prompt-error-driven.txt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51939BE-669F-4891-ADC2-123627F3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736592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EF6006-8EFB-4F56-B8DA-AB91A335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736592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6C0293-D260-4C35-87B7-B1587453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4736592"/>
            <a:ext cx="8549640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将两类提示发送给对话模型，保存候选与原始回复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5B65756-C8B1-49B8-985F-D3638D8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31536"/>
            <a:ext cx="195681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7B91704-D86C-47EB-A561-12FF833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31536"/>
            <a:ext cx="19568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2704691-58B7-45BA-84E7-EAD3BD5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431536"/>
            <a:ext cx="8549640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ctr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手工构建候选，成功后按镜像 ID 运行；命令见第 27 页</a:t>
            </a:r>
          </a:p>
        </p:txBody>
      </p:sp>
      <p:sp>
        <p:nvSpPr>
          <p:cNvPr id="21" name="预期：build=1，RUN make 缺少 make；采集与提示生成">
            <a:extLst xmlns:a="http://schemas.openxmlformats.org/drawingml/2006/main">
              <a:ext uri="{FF2B5EF4-FFF2-40B4-BE49-F238E27FC236}">
                <a16:creationId xmlns:a16="http://schemas.microsoft.com/office/drawing/2014/main" id="{A06646DF-0654-45E3-B652-41DDAF1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预期：build=1，RUN make 缺少 make；采集与提示生成完成后脚本 exit=0</a:t>
            </a:r>
          </a:p>
        </p:txBody>
      </p:sp>
    </p:spTree>
    <p:extLst>
      <p:ext uri="{BB962C8B-B14F-4D97-AF65-F5344CB8AC3E}">
        <p14:creationId xmlns:p14="http://schemas.microsoft.com/office/powerpoint/2010/main" val="133099586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75827A0-96D6-478C-A8C9-7B999BA6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论文步骤与实验做法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5069D9-0B0F-4BD2-9C30-B334ED6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记录工具、输入和候选取得方式，并说明对应的输入与输出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68BD58-FACC-4A4A-9260-DC6891D5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A2F774-D6B5-402C-BC5D-48608CBE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18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5B866582-AD12-4F75-BB0B-CE3891187243}"/>
              </a:ext>
            </a:extLst>
          </p:cNvPr>
          <p:cNvGraphicFramePr/>
          <p:nvPr/>
        </p:nvGraphicFramePr>
        <p:xfrm>
          <a:off xmlns:a="http://schemas.openxmlformats.org/drawingml/2006/main" x="612648" y="2651760"/>
          <a:ext xmlns:a="http://schemas.openxmlformats.org/drawingml/2006/main" cx="10972800" cy="204825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3017520"/>
                <a:gridCol w="3017520"/>
                <a:gridCol w="3017520"/>
              </a:tblGrid>
              <a:tr h="5120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论文做法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实验做法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保存内容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构建跟踪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ptrace 跟踪器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strace -ff -s 4096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trace、进程归属、依赖关系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实验输入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开源项目集合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已知 MD/RD 与缺 make 的样例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项目副本、命令、构建日志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候选取得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模型生成与选择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对话模型取得，手工保存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提示、原始回复、候选及选择理由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189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E206D67-BDE3-4BED-9391-1FBC63A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提交与验收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F9874C-9872-4041-82F2-E71EFF1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提交仓库地址、提交 SHA 和 work/ 结果目录，报告采用 templates/实验报告.md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DB4607-D4BC-4A93-8B4F-758796F9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BA28D7-FC4F-4DDB-9F20-8005E5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19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59167531-4B8B-493B-8939-0E20BF22F023}"/>
              </a:ext>
            </a:extLst>
          </p:cNvPr>
          <p:cNvGraphicFramePr/>
          <p:nvPr/>
        </p:nvGraphicFramePr>
        <p:xfrm>
          <a:off xmlns:a="http://schemas.openxmlformats.org/drawingml/2006/main" x="612648" y="2651760"/>
          <a:ext xmlns:a="http://schemas.openxmlformats.org/drawingml/2006/main" cx="10972800" cy="3474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5486400"/>
                <a:gridCol w="4297680"/>
              </a:tblGrid>
              <a:tr h="868680">
                <a:tc>
                  <a:txBody>
                    <a:bodyPr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轨道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提交内容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核对结果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work/e5-01/evidence/：trace/、make-db.txt、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program-output.txt，以及依赖对照结论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 的 config.h 为 MD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unused.h 为 RD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work/e5-01/：失败日志、提示、手工复建和运行日志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work/candidate/：Dockerfile、model-response.txt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初始构建缺 make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候选构建 exit=0，输出 hello E3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共同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templates/实验报告.md、templates/候选来源记录.json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记录自己的修改、命令和结果路径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输入、日志、结论逐项对应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按记录可重复执行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10428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2D7E802-0FB4-4D43-8E0E-FF2A13E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结果检查与后续任务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D12DC25-7889-44DB-837A-74A4E827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按报告中的路径核对输入、操作和结果，再进入 E6 与 E7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0CAF7F-84D9-417C-8038-A967D5B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698182-04FC-4219-BE11-15CFF87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CD88BEF-8F36-4534-989D-D45BA318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CE18E9-20A3-4FFE-B938-D1696A52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2926080"/>
            <a:ext cx="48417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E5 结果检查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D94294-1869-49DF-ADED-62BFCC25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3" y="3520440"/>
            <a:ext cx="4841748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A：读写进程与 Make 声明可对照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B：初始失败与候选成功日志齐全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候选原始回复与来源记录齐全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命令和结果路径写入实验报告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6B85462-F3BE-4973-BB46-E35FA88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529894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A88F89-1575-4B01-80CA-430B585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2926080"/>
            <a:ext cx="48417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后续任务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F6E1E33-99A5-4FC0-A35B-9698DD3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3520440"/>
            <a:ext cx="484174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E6：A 自动检测 MD/RD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E6：B 候选构建与运行验证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E7：重复、修复和故障测试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E7：CI、失败拦截与修复恢复</a:t>
            </a:r>
          </a:p>
        </p:txBody>
      </p:sp>
    </p:spTree>
    <p:extLst>
      <p:ext uri="{BB962C8B-B14F-4D97-AF65-F5344CB8AC3E}">
        <p14:creationId xmlns:p14="http://schemas.microsoft.com/office/powerpoint/2010/main" val="11554254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A1BA8F-0E54-49C6-97A5-26CFAE7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跟踪与保存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4E5CF7-C732-4197-9BD7-4CBD066C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主入口在 A 仓库执行，跟踪参数由 lab_cloud.py 传入服务容器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118495-7EBC-4B8E-9F89-6F321E4E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2B0388-E308-4DB3-A93A-554B25D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118CB1-2229-4B3B-A09C-30D5813A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683971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3C0C385-91EC-442A-AE99-FF9CC79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519672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50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e5 --out work/e5-01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>
                <a:latin typeface="Consolas"/>
                <a:ea typeface="Consolas"/>
                <a:cs typeface="Consolas"/>
              </a:rPr>
              <a:t>cat work/e5-01/evidence/program-output.txt</a:t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grep -n '^main.o:' \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work/e5-01/evidence/make-db.txt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grep -n 'config.h' \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>
                <a:latin typeface="Consolas"/>
                <a:ea typeface="Consolas"/>
                <a:cs typeface="Consolas"/>
              </a:rPr>
              <a:t>  work/e5-01/evidence/trace/t.*</a:t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9882A67-366D-4909-A141-0DB130A4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79192"/>
            <a:ext cx="38313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62EBCC-05D9-4D17-889D-6AE7411E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64992"/>
            <a:ext cx="3831335" cy="1697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退出码 0，程序输出 1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-ff：每进程一个 trace 文件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-s 4096：保存较长的字符串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-p app：构建并输出数据库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%file,%process：文件与进程调用</a:t>
            </a:r>
          </a:p>
        </p:txBody>
      </p:sp>
    </p:spTree>
    <p:extLst>
      <p:ext uri="{BB962C8B-B14F-4D97-AF65-F5344CB8AC3E}">
        <p14:creationId xmlns:p14="http://schemas.microsoft.com/office/powerpoint/2010/main" val="13213610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207509-A4EA-47AC-ACCC-1E0AFE2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2：进程归属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8ABF25-B9AE-4E0B-A68D-D3CA78D6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使用单 Make 构建，将 cc 派生的 cc1、as 归入同一个构建任务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1C71B1-5A7F-4FAD-B731-09AFF87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90F119-982C-4FFE-B59B-12579BEB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0D69CBA-3D7C-412A-84A3-7137DE16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72237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C90CDC-B04E-4607-8D28-2F40B29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903720" cy="194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for 每个 trace 文件（进程 pid）: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clone/fork 的返回值 → parent[子进程] = pid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execve 的第一个参数 → exe[pid]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job(pid) = 沿父链向上，父进程是 make 的祖先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for 每个作业 j: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写打开 / rename 的项目文件 → 目标 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只读打开的项目文件 − T   → 实际依赖(T)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路径：相对路径按进程工作目录补全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过滤：不在项目根目录下的（/usr、/tmp）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9D69FCA-8D3B-40A1-A7F7-25A5AE6A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679192"/>
            <a:ext cx="344728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E26E95-FCA8-415E-8E58-600A5AF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364992"/>
            <a:ext cx="3447287" cy="1755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当前样例使用单 Make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cc1 与 as 同属编译任务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仅统计成功的文件打开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区分 O_RDONLY 与写打开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按进程工作目录解析相对路径</a:t>
            </a:r>
          </a:p>
        </p:txBody>
      </p:sp>
    </p:spTree>
    <p:extLst>
      <p:ext uri="{BB962C8B-B14F-4D97-AF65-F5344CB8AC3E}">
        <p14:creationId xmlns:p14="http://schemas.microsoft.com/office/powerpoint/2010/main" val="151135145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AC2A19D-B07B-443E-B6A7-7DD9B1E1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3：结论记录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0B48A6-DD0E-4407-BBEC-C7FEDC15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结论包含目标、实际依赖、声明依赖及对应证据路径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BCEF37-E63E-48F7-8D3C-DECC8269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05E773-6312-4664-84FB-8B7C817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39D897-C950-4B8D-8B96-3143892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72237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86ABE5-0022-4BF2-9413-83E94D1B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52344"/>
            <a:ext cx="6903720" cy="1783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88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目标：main.o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实际依赖：main.c、config.h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读取记录：work/e5-01/evidence/trace/t.&lt;PID&gt;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归属：cc1 的父进程为 cc，cc 的父进程为 make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同一任务的 as 写出 main.o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声明：work/e5-01/evidence/make-db.txt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main.o: main.c unused.h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结论：MD = config.h，RD = unused.h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CCEDF2-D0FB-4078-AF42-F15263D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679192"/>
            <a:ext cx="344728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A04EB5-1D64-4718-82E5-C93F6EAC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364992"/>
            <a:ext cx="3447287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填写本次 trace 文件和行号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核对成功 openat 的返回值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按进程关系确认文件归属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 将结论写入 findings.json</a:t>
            </a:r>
          </a:p>
        </p:txBody>
      </p:sp>
    </p:spTree>
    <p:extLst>
      <p:ext uri="{BB962C8B-B14F-4D97-AF65-F5344CB8AC3E}">
        <p14:creationId xmlns:p14="http://schemas.microsoft.com/office/powerpoint/2010/main" val="15878552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64674C-3630-4183-A3D2-330272A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组论文项目（提高）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DD4E19-C809-4E00-A593-3D3DE68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从论文 Table 3 中选小项目；结果与该行对照，说明差异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CAAA1B-03F9-4C41-8B87-06BCFB4A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E52BA-A27D-4545-B412-17344D46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24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0DC08C08-3A1B-487B-82E3-AA68CA873266}"/>
              </a:ext>
            </a:extLst>
          </p:cNvPr>
          <p:cNvGraphicFramePr/>
          <p:nvPr/>
        </p:nvGraphicFramePr>
        <p:xfrm>
          <a:off xmlns:a="http://schemas.openxmlformats.org/drawingml/2006/main" x="612648" y="265176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64008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文件数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http-parser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规模最小，适合作为第一个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Generic-C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规模小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libco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 Fig. 1 的例子，含 .d 自动依赖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fzy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中等规模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237401-5D72-4CC5-95D3-8C67D1FF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6235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先确认项目使用 GNU Make 且能 clean build 成功，再开始跟踪</a:t>
            </a:r>
          </a:p>
        </p:txBody>
      </p:sp>
    </p:spTree>
    <p:extLst>
      <p:ext uri="{BB962C8B-B14F-4D97-AF65-F5344CB8AC3E}">
        <p14:creationId xmlns:p14="http://schemas.microsoft.com/office/powerpoint/2010/main" val="1787914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A6B62EE-B4EB-420D-8ADF-601FAB3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起点与真实失败日志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9AB9E2-C6F3-45C5-A89D-8709B5B0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固定 FROM 摘要，保留 WORKDIR、COPY、RUN make 和 CMD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99B790-2090-487E-9B7D-5882BA6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CD6830B-2198-40E4-8141-1E5A84E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D11F8B-A515-4785-BEEE-CD0778D3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87752"/>
            <a:ext cx="683971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1B560D-381E-4E4D-8AAB-C424A94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81350"/>
            <a:ext cx="6519672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350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WORKDIR /work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COPY main.c Makefile ./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RUN make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CMD ["./hello"]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build-retry.log 原文节选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>
                <a:latin typeface="Consolas"/>
                <a:ea typeface="Consolas"/>
                <a:cs typeface="Consolas"/>
              </a:rPr>
              <a:t>#8 [4/4] RUN make</a:t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#8 0.221 /bin/sh: 1: make: not found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#8 ERROR: process "/bin/sh -c make" did not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complete successfully: exit code: 127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CE24E7F-3DB5-46C3-99B5-57E93A9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209925"/>
            <a:ext cx="3831336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F7EC78-5894-43A2-80D8-E009CCA5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19525"/>
            <a:ext cx="3831336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650"/>
            </a:defPPr>
          </a:lstStyle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make 到达后缺少 make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镜像内命令退出 127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build 退出 1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添加 build-essential 后复建</a:t>
            </a:r>
          </a:p>
        </p:txBody>
      </p:sp>
      <p:sp>
        <p:nvSpPr>
          <p:cNvPr id="10" name="FROM python:3.13-slim@sha256:70729b">
            <a:extLst xmlns:a="http://schemas.openxmlformats.org/drawingml/2006/main">
              <a:ext uri="{FF2B5EF4-FFF2-40B4-BE49-F238E27FC236}">
                <a16:creationId xmlns:a16="http://schemas.microsoft.com/office/drawing/2014/main" id="{6E04F2B6-8B3B-40B7-B1B5-9DD116D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1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1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FROM python:3.13-slim@sha256:70729b46c69b4f1e97c4822c1af3df53a1476cf5ddc6c087c0c10bc3a5678c2f</a:t>
            </a:r>
          </a:p>
        </p:txBody>
      </p:sp>
    </p:spTree>
    <p:extLst>
      <p:ext uri="{BB962C8B-B14F-4D97-AF65-F5344CB8AC3E}">
        <p14:creationId xmlns:p14="http://schemas.microsoft.com/office/powerpoint/2010/main" val="6185464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35C65F-5EBA-406F-88F4-05A7653C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提示与候选保存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257575-4805-401C-A10E-28F3E66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两类提示来自 work/e5-01/iter-01/，分别提交给对话模型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AAE447B-40C5-4EFE-BB03-B4EE1B2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49C0EB-C1D8-4936-AB4F-6F500824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C4983D-1D7E-43D2-9957-E984063D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9B148B4-CB68-472F-84BE-61C5F109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2256282" cy="373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生成提示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4E89658-6667-4D94-B3DD-9E336C15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02152"/>
            <a:ext cx="2256282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错误驱动提示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上下文驱动提示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6A946DA5-6880-4F88-9B2F-3F6E5C9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0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5FC859-BAD5-4C26-9E71-5BA0339D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738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C7550F-3560-48A5-94DB-A7DBB73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2953512"/>
            <a:ext cx="2256282" cy="373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取得候选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AB4E71B-F6CA-4AD2-B3CB-74D36E2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465" y="3502152"/>
            <a:ext cx="2256282" cy="887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发送完整提示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保存原始回复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编号比较候选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4C94455F-19DB-42D1-A338-EFE7B5D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196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55F0AC-0DDA-4104-8D23-8C52A55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07E473-727A-4A36-BC4B-1ABEE5E6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2953512"/>
            <a:ext cx="2256282" cy="373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保存候选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7D617C-FFBB-465E-AC6B-200A8DB9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252" y="3502152"/>
            <a:ext cx="2256282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work/candidate/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model-response.txt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5EBE965F-C99B-4410-B004-161B8F20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982" y="3840480"/>
            <a:ext cx="2926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D8B2C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EF4EF03-FCFB-427A-909F-DC80884A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788920"/>
            <a:ext cx="247573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63A85FA-E1D2-4410-AEA5-5FC9FF92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2953512"/>
            <a:ext cx="2256282" cy="373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记录来源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2CE509-AC6B-43E3-BEDD-03A92F1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38" y="3502152"/>
            <a:ext cx="2256282" cy="8365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463"/>
            </a:defPPr>
          </a:lstStyle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63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templates/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63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候选来源记录.json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463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模型、时间、选择理由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0839E1-BF6A-49BF-BAAF-3BC3224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57800"/>
            <a:ext cx="11055096" cy="59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提示文件：prompt-error-driven.txt、prompt-context-driven.txt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原始回复：work/candidate/model-response.txt</a:t>
            </a:r>
          </a:p>
        </p:txBody>
      </p:sp>
    </p:spTree>
    <p:extLst>
      <p:ext uri="{BB962C8B-B14F-4D97-AF65-F5344CB8AC3E}">
        <p14:creationId xmlns:p14="http://schemas.microsoft.com/office/powerpoint/2010/main" val="191140780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670AFC5-F950-452C-8D62-92C31EC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选择记录与手工复建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12EB723-28A6-4408-8C88-3DF0BC0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decision.json：候选 1、3 续行归一化后相同，原始文本不同，选择候选 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BF00E-EF16-43DC-B070-3EFB6F9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BFB884-A22C-4EE9-9507-407B8A40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788DAC-194E-4998-8989-C332AF5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93470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FD6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2F999A-9290-4070-8702-5881E33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572750" cy="2251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>
            <a:defPPr>
              <a:defRPr sz="1425"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build --progress=plain -f work/candidate/Dockerfile \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-t course1020-draft-e5:local work/e5-01/project \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&gt; work/e5-01/candidate-build.log 2&gt;&amp;1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"BUILD_EXIT_CODE=$?"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>
                <a:latin typeface="Consolas"/>
                <a:ea typeface="Consolas"/>
                <a:cs typeface="Consolas"/>
              </a:rPr>
              <a:t>image_id=$(docker image inspect course1020-draft-e5:local --format '{{.Id}}')</a:t>
            </a: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run --rm --network none "$image_id" \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&gt; work/e5-01/verify.log 2&gt; work/e5-01/verify-stderr.log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"VERIFY_EXIT_CODE=$?"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cat work/e5-01/verify.log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8B64ED-DA80-4143-ABD3-92ACC03D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79192"/>
            <a:ext cx="3831335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9E17E4A-837F-43C6-AC93-8813F6D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64992"/>
            <a:ext cx="383133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先执行前 4 行，确认 BUILD_EXIT_CODE=0，再执行下半">
            <a:extLst xmlns:a="http://schemas.openxmlformats.org/drawingml/2006/main">
              <a:ext uri="{FF2B5EF4-FFF2-40B4-BE49-F238E27FC236}">
                <a16:creationId xmlns:a16="http://schemas.microsoft.com/office/drawing/2014/main" id="{D00780B6-0F51-4316-9001-6D1046F2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13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13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先执行前 4 行，确认 BUILD_EXIT_CODE=0，再执行下半段。预期 VERIFY_EXIT_CODE=0，输出 hello E3</a:t>
            </a:r>
          </a:p>
        </p:txBody>
      </p:sp>
    </p:spTree>
    <p:extLst>
      <p:ext uri="{BB962C8B-B14F-4D97-AF65-F5344CB8AC3E}">
        <p14:creationId xmlns:p14="http://schemas.microsoft.com/office/powerpoint/2010/main" val="44222940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915CC6-58E6-48C0-99AB-27679C0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组论文项目（提高）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B118C8F-C566-4C55-9C99-50A3738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论文 Table 2 / Table 3 中的 C 项目（ChatGPT 3.5 结果）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21D591B-95F1-41CD-89EB-8594692B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3C8B32-4902-4987-AEE9-23AEFEA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E5  /  28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EEB72BD-8441-4539-8543-D235B895B4D0}"/>
              </a:ext>
            </a:extLst>
          </p:cNvPr>
          <p:cNvGraphicFramePr/>
          <p:nvPr/>
        </p:nvGraphicFramePr>
        <p:xfrm>
          <a:off xmlns:a="http://schemas.openxmlformats.org/drawingml/2006/main" x="612648" y="265176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论文版本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论文修复次数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论文耗时</a:t>
                      </a:r>
                    </a:p>
                  </a:txBody>
                  <a:tcPr marL="128016" marR="91440" marT="64008" marB="64008" anchor="ctr">
                    <a:solidFill>
                      <a:srgbClr val="BD8B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redis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7.2.4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21.36 秒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tmux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21.25 秒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3.45.1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98.77 秒</a:t>
                      </a:r>
                    </a:p>
                  </a:txBody>
                  <a:tcPr marL="128016" marR="91440" marT="64008" marB="6400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cpython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3.13.0a4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242.63 秒</a:t>
                      </a:r>
                    </a:p>
                  </a:txBody>
                  <a:tcPr marL="128016" marR="91440" marT="64008" marB="6400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26E2B0-01BF-41BD-9760-2F0EF0C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6235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成功判据要有验证命令，例如 tmux -V、redis-server --version</a:t>
            </a:r>
          </a:p>
        </p:txBody>
      </p:sp>
    </p:spTree>
    <p:extLst>
      <p:ext uri="{BB962C8B-B14F-4D97-AF65-F5344CB8AC3E}">
        <p14:creationId xmlns:p14="http://schemas.microsoft.com/office/powerpoint/2010/main" val="70214746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2026-10-15T06:52:05.9430000Z</dcterms:created>
  <dcterms:modified xsi:type="dcterms:W3CDTF">2026-10-15T06:52:05.9430000Z</dcterms:modified>
</coreProperties>
</file>