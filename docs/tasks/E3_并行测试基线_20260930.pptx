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6" r:id="rId4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/>
          <p:cNvPicPr>
            <a:picLocks noChangeAspect="1"/>
          </p:cNvPicPr>
          <p:nvPr/>
        </p:nvPicPr>
        <p:blipFill rotWithShape="1">
          <a:blip r:embed="rId2"/>
          <a:srcRect r="39086"/>
          <a:stretch>
            <a:fillRect/>
          </a:stretch>
        </p:blipFill>
        <p:spPr>
          <a:xfrm>
            <a:off x="-268605" y="-464820"/>
            <a:ext cx="2005965" cy="217551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marL="0" marR="0" algn="ctr" defTabSz="914400">
              <a:lnSpc>
                <a:spcPct val="100000"/>
              </a:lnSpc>
              <a:buNone/>
              <a:defRPr sz="6000" b="1" i="0" u="none" kern="1200" cap="none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2615" y="-1282700"/>
            <a:ext cx="4442460" cy="4099560"/>
          </a:xfrm>
          <a:prstGeom prst="rect">
            <a:avLst/>
          </a:prstGeom>
        </p:spPr>
      </p:pic>
      <p:pic>
        <p:nvPicPr>
          <p:cNvPr id="30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51230" y="3771900"/>
            <a:ext cx="3503930" cy="3232785"/>
          </a:xfrm>
          <a:prstGeom prst="rect">
            <a:avLst/>
          </a:prstGeom>
        </p:spPr>
      </p:pic>
      <p:pic>
        <p:nvPicPr>
          <p:cNvPr id="31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970" y="5332730"/>
            <a:ext cx="4865370" cy="1885950"/>
          </a:xfrm>
          <a:prstGeom prst="rect">
            <a:avLst/>
          </a:prstGeom>
        </p:spPr>
      </p:pic>
      <p:pic>
        <p:nvPicPr>
          <p:cNvPr id="32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907530" y="5332730"/>
            <a:ext cx="4865370" cy="1885950"/>
          </a:xfrm>
          <a:prstGeom prst="rect">
            <a:avLst/>
          </a:prstGeom>
        </p:spPr>
      </p:pic>
      <p:pic>
        <p:nvPicPr>
          <p:cNvPr id="33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988560"/>
            <a:ext cx="12233910" cy="1869440"/>
          </a:xfrm>
          <a:prstGeom prst="rect">
            <a:avLst/>
          </a:prstGeom>
        </p:spPr>
      </p:pic>
      <p:pic>
        <p:nvPicPr>
          <p:cNvPr id="34" name="图片 3"/>
          <p:cNvPicPr>
            <a:picLocks noChangeAspect="1"/>
          </p:cNvPicPr>
          <p:nvPr/>
        </p:nvPicPr>
        <p:blipFill rotWithShape="1">
          <a:blip r:embed="rId7"/>
          <a:srcRect l="16598" r="41371" b="32186"/>
          <a:stretch>
            <a:fillRect/>
          </a:stretch>
        </p:blipFill>
        <p:spPr>
          <a:xfrm>
            <a:off x="5102455" y="-988999"/>
            <a:ext cx="2341396" cy="2408268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1333500" y="2943225"/>
            <a:ext cx="9525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E3 并行测试基线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524250" y="4038600"/>
            <a:ext cx="5143500" cy="12941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 dirty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DevOps </a:t>
            </a:r>
            <a:r>
              <a:rPr sz="2025" b="0" dirty="0" err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教学实验</a:t>
            </a:r>
            <a:endParaRPr sz="2025" b="0" dirty="0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dirty="0">
                <a:latin typeface="微软雅黑"/>
                <a:ea typeface="微软雅黑"/>
                <a:cs typeface="微软雅黑"/>
                <a:sym typeface="+mn-ea"/>
              </a:rPr>
              <a:t>教师</a:t>
            </a:r>
            <a:r>
              <a:rPr lang="en-US" altLang="zh-CN" dirty="0">
                <a:latin typeface="微软雅黑"/>
                <a:ea typeface="微软雅黑"/>
                <a:cs typeface="微软雅黑"/>
                <a:sym typeface="+mn-ea"/>
              </a:rPr>
              <a:t>：</a:t>
            </a:r>
            <a:r>
              <a:rPr lang="zh-CN" altLang="en-US" dirty="0">
                <a:solidFill>
                  <a:srgbClr val="B88F4D"/>
                </a:solidFill>
                <a:latin typeface="微软雅黑" charset="-122"/>
                <a:ea typeface="微软雅黑" charset="-122"/>
                <a:sym typeface="+mn-ea"/>
              </a:rPr>
              <a:t>吕骏</a:t>
            </a:r>
          </a:p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2025" b="0" dirty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助教</a:t>
            </a:r>
            <a:r>
              <a:rPr lang="en-US" altLang="zh-CN" sz="2025" b="0" dirty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25" dirty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魏经阁</a:t>
            </a:r>
            <a:endParaRPr lang="zh-CN" altLang="en-US" sz="2025" b="0" dirty="0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实验安排与目标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1065085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本次要做什么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准备能让工具接受的测试项目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写出预期结果和判断依据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保留实际运行或失败记录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测试基线的含义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一份基线包含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固定的</a:t>
            </a:r>
            <a:r>
              <a:rPr sz="195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项目版本</a:t>
            </a: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 sz="195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环境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本次修改或故障是什么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预期输出以及判断依据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可重新执行的命令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举一个例子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main.c读取config.h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Makefile没有声明这个头文件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预期存在一条缺失依赖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后续检测器应该报告它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四服务测试基线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先独立准备样本，E12再接入另一组的真实数据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4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准备输入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预期证据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BuildChecker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main.c / Makefile / 头文件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MD、RD 及依据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EChecker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C0/C1/C2 与历史图预期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错误变化与命令变化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DRAFT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README、源码、构建命令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成功输出、失败日志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MDFixer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 MD 报告、Makefile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Patch、验证与拒绝案例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A组本次清单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为全量检测和增量检测准备可判断对错的输入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5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4795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4875" y="280035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MD / RD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48000" y="280035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一个缺失声明、一个冗余声明及人工依据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347662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04875" y="362902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C0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48000" y="362902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记录声明正确的初始提交和构建配置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0530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04875" y="445770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C1 / C2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48000" y="445770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一次新增include，一次只改编译命令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513397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04875" y="528637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保存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48000" y="528637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真实SHA、预期报告、命令、输出与失败记录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B组本次清单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环境生成和依赖修复可以并行准备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6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4795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4875" y="280035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DRAFT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48000" y="280035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选择项目，写明构建和功能验证命令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347662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04875" y="362902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失败样例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48000" y="362902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保存可定位的构建失败日志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0530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04875" y="445770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MDFixer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48000" y="445770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准备固定MD报告及其对应Makefile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513397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04875" y="528637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参考答案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48000" y="528637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说明期望补丁和怎样判断修复有效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项目选择与运行环境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从容易构建的小项目开始，记录版本和适用范围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7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项目怎么选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可用论文项目，也可自行选择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检测与修复优先GNU Make项目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先用小项目理解输入输出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怎样让别人重跑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记录commit和工具版本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README写构建与验证命令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Mac可看构建行为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系统调用跟踪使用Linux环境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编译通过与功能验证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DRAFT样本需要两层成功判据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8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第一层：编译通过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构建命令退出码为0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预期可执行文件确实生成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保存构建日志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第二层：功能验证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运行README约定的测试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检查退出码与预期输出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测试失败仍要记录并继续修正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E3提交要求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项目、预期结果和实际观察分别保存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10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3842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281940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A组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330517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MD/RD项目和判断依据</a:t>
            </a: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C0/C1/C2版本及预期变化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63842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53225" y="281940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B组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53225" y="330517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DRAFT项目与功能验证条件</a:t>
            </a: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固定MD报告及修复样本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81500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455295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共同信息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90600" y="503872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README、环境、命令与日志</a:t>
            </a: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仓库、SHA与</a:t>
            </a:r>
            <a:r>
              <a:rPr sz="18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个人贡献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24625" y="437197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53225" y="455295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未完成也要记录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53225" y="503872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当前代码与失败日志</a:t>
            </a: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卡在哪里、试过什么、下一步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相互</a:t>
            </a: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检查与后续安排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11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相互检查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别人能按README运行吗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人工答案和实际日志分清了吗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预期结果能说明依据吗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失败记录能定位到具体版本吗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后续任务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E4：环境和密钥管理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E5：BuildChecker / DRAFT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E8：EChecker / MDFixer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E12：接入真实数据联调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操作附录：按需选择对应小组步骤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12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A组操作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环境检查与一键预演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MD/RD手动对照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C0/C1/C2真实提交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Linux原始跟踪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B组操作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DRAFT失败与参考成功样本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固定MD报告和四类声明样例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补丁应用、行为验证与拒绝恢复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完整命令见实验包README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备查：实验包与证据目录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每次运行创建新目录，保留已有工作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13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E3实验包/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fixtures/md-rd/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fixtures/commits/C0 C1 C2/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fixtures/draft/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scripts/run_lab.py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scripts/verify_docker.py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work/本次运行/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evidence/linux-verified/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fixtures：课程人工样例源码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work：真实 Git 提交与参考修复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evidence：实际命令和观察结果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所有人工标签标明 ORACLE 来源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备查：基础概念：目标与依赖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Make 通过规则与时间戳判断是否重建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14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app: main.o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cc main.o -o app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main.o: main.c config.h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cc -c main.c -o main.o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冒号左侧：目标 target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冒号右侧：前置依赖 prerequisites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下一行：构建命令 recipe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真实 Makefile 命令行以 Tab 开头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备查：声明依赖与实际依赖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先限定目标、配置与执行范围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15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524125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实际读取关系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3095625"/>
            <a:ext cx="2047875" cy="1190625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3267075"/>
            <a:ext cx="17811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main.c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3790950"/>
            <a:ext cx="17811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项目源码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4667250"/>
            <a:ext cx="2047875" cy="1190625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4838700"/>
            <a:ext cx="17811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config.h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5350" y="5362575"/>
            <a:ext cx="17811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被源码包含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238625" y="3857625"/>
            <a:ext cx="2095500" cy="13335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371975" y="4029075"/>
            <a:ext cx="1828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main.o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371975" y="45529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编译目标</a:t>
            </a:r>
          </a:p>
        </p:txBody>
      </p:sp>
      <p:cxnSp>
        <p:nvCxnSpPr>
          <p:cNvPr id="37" name="直接箭头连接符 36"/>
          <p:cNvCxnSpPr>
            <a:stCxn id="6" idx="3"/>
            <a:endCxn id="12" idx="1"/>
          </p:cNvCxnSpPr>
          <p:nvPr/>
        </p:nvCxnSpPr>
        <p:spPr>
          <a:xfrm>
            <a:off x="2809875" y="3690938"/>
            <a:ext cx="1428750" cy="833438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38" name="直接箭头连接符 37"/>
          <p:cNvCxnSpPr>
            <a:stCxn id="9" idx="3"/>
            <a:endCxn id="12" idx="1"/>
          </p:cNvCxnSpPr>
          <p:nvPr/>
        </p:nvCxnSpPr>
        <p:spPr>
          <a:xfrm flipV="1">
            <a:off x="2809875" y="4524375"/>
            <a:ext cx="1428750" cy="738188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sp>
        <p:nvSpPr>
          <p:cNvPr id="17" name="矩形 16"/>
          <p:cNvSpPr>
            <a:spLocks noGrp="1"/>
          </p:cNvSpPr>
          <p:nvPr/>
        </p:nvSpPr>
        <p:spPr>
          <a:xfrm>
            <a:off x="2905125" y="3333750"/>
            <a:ext cx="1285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编译时读取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914650" y="5381625"/>
            <a:ext cx="1285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实际需要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524750" y="2857500"/>
            <a:ext cx="3857625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810500" y="3114675"/>
            <a:ext cx="32861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Makefile 声明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10500" y="3762375"/>
            <a:ext cx="328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main.o: main.c unused.h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10500" y="4486275"/>
            <a:ext cx="32861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声明缺少 config.h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只改头文件可能不重建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1：检查环境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16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git --version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--version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cc --version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python3 --version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Linux 跟踪环境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strace --version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记录操作系统和 CPU 架构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记录编译器及 GNU Make 版本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Mac 的 cc 与容器 gcc 可能不同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正式性能比较保持同一环境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2：运行基线生成器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自动创建样例副本与真实提交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17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cd E3实验包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python3 scripts/run_lab.py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记下最后一行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EVIDENCE_DIR=.../work/本次时间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后续查看对应目录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observations.json 与 commands.json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执行编译和行为断言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创建 C0/C1/C2 Git tags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生成固定报告与参考补丁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每次新建目录，保留旧证据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3：MD/RD 故障项目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一个漏声明依赖，一个多余声明依赖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18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// main.c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#include &lt;stdio.h&gt;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#include "config.h"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// config.h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#define VALUE 1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Makefile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main.o: main.c unused.h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cc -c main.c -o main.o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config.h 被读取，但未声明：MD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unused.h 被声明，但未读取：RD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先聚焦 main.o 这一个目标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系统头文件不在本人工答案集合内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4：第一次完整构建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预期程序输出 1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19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cp -R fixtures/md-rd /tmp/e3-md-rd-你的编号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cd /tmp/e3-md-rd-你的编号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./app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预期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选一个尚不存在的独立目录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保存 make 的输出和退出码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观察 config.h 存在所以编译可成功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此时不能据“成功”判断依赖声明正确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5：只修改头文件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增量构建仍输出旧值 1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20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编辑 config.h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#define VALUE 2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头文件修改时间应晚于 main.o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./app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预期仍为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Makefile 中缺少 config.h 这条边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认为 main.o 不需要更新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程序运行成功但结果过时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保存修改前后内容与命令输出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6：与 clean build 对照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相同源码完整重建输出 2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21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clean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./app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预期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增量输出：1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完整重建输出：2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差异证明确有漏重建行为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只在自己的样例副本运行 clean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7：观察 RD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修改未使用的头文件触发多余编译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22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编辑 unused.h，仅改注释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/* still unused */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预期再次出现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cc -c main.c -o main.o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cc main.o -o app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功能结果不变，额外构建发生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原因是 Makefile 多声明 unused.h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保存重新编译命令作为行为证据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MD 与 RD 的后果不同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8：保存固定发现报告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人工标签提供可核验的预期答案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23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{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"provenance": "INSTRUCTOR_ORACLE",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"findings": [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{"type":"MISSING", "target":"main.o",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 "dependency":"config.h"},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{"type":"REDUNDANT", "target":"main.o",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 "dependency":"unused.h"}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]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}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同时记录源码快照与配置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为每条发现写依据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后续用真实检测结果与它对比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不要将人工报告计入工具准确率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9：真实 C0/C1/C2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连续提交分别引入两类变化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24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3352800"/>
            <a:ext cx="2381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3524250"/>
            <a:ext cx="2114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C0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4048125"/>
            <a:ext cx="2114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声明正确</a:t>
            </a: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程序输出 10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505200" y="3352800"/>
            <a:ext cx="2381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38550" y="3524250"/>
            <a:ext cx="2114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C1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38550" y="4048125"/>
            <a:ext cx="2114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新增 feature.h 使用</a:t>
            </a: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未补 Makefile 依赖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05550" y="3352800"/>
            <a:ext cx="2381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438900" y="3524250"/>
            <a:ext cx="2114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C2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38900" y="4048125"/>
            <a:ext cx="2114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只改 -DMODE=7</a:t>
            </a: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源码保持 C1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05900" y="3352800"/>
            <a:ext cx="2381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239250" y="3524250"/>
            <a:ext cx="2114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对照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239250" y="4048125"/>
            <a:ext cx="2114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C2 增量 12</a:t>
            </a: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C2 clean 19</a:t>
            </a:r>
          </a:p>
        </p:txBody>
      </p:sp>
      <p:cxnSp>
        <p:nvCxnSpPr>
          <p:cNvPr id="36" name="直接箭头连接符 35"/>
          <p:cNvCxnSpPr>
            <a:stCxn id="5" idx="3"/>
            <a:endCxn id="8" idx="1"/>
          </p:cNvCxnSpPr>
          <p:nvPr/>
        </p:nvCxnSpPr>
        <p:spPr>
          <a:xfrm>
            <a:off x="3086100" y="4286250"/>
            <a:ext cx="419100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37" name="直接箭头连接符 36"/>
          <p:cNvCxnSpPr>
            <a:stCxn id="8" idx="3"/>
            <a:endCxn id="11" idx="1"/>
          </p:cNvCxnSpPr>
          <p:nvPr/>
        </p:nvCxnSpPr>
        <p:spPr>
          <a:xfrm>
            <a:off x="5886450" y="4286250"/>
            <a:ext cx="419100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38" name="直接箭头连接符 37"/>
          <p:cNvCxnSpPr>
            <a:stCxn id="11" idx="3"/>
            <a:endCxn id="14" idx="1"/>
          </p:cNvCxnSpPr>
          <p:nvPr/>
        </p:nvCxnSpPr>
        <p:spPr>
          <a:xfrm>
            <a:off x="8686800" y="4286250"/>
            <a:ext cx="419100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备查：C0：正确的初始版本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源码与声明相互对应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25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// main.c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#include "config.h"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// 输出 BASE + MODE，默认 MODE=0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// config.h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#define BASE 10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Makefile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main.o: main.c config.h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clean build 输出 10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main.o 的项目依赖已声明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这份 commit 的图可作历史基线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保留构建配置 MODE=0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备查：C1：增加 include，遗漏声明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新增的缺失依赖是 feature.h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26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// main.c 增加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#include "feature.h"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// 输出 BASE + FEATURE + MODE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// feature.h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#define FEATURE 2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Makefile 保持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main.o: main.c config.h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C0 到 C1 改了 main.c，可能会重编译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C1 此时输出 12，并不说明无 MD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随后只改 feature.h 才显示漏重建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预期发现 main.o 缺 feature.h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备查：C2：只改变编译命令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Make 的普通时间戳检查可能漏掉命令变化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27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C1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CFLAGS = -O0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C2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CFLAGS = -O0 -DMODE=7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-n -B main.o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用命令快照比较 C1 与 C2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保留 C1 的构建产物进入 C2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普通 make 仍可能输出 12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clean build 应输出 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备查：A 组步骤 10：比较增量与全量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相同提交、配置和规范化方式才能比较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28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人工预期发现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程序行为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C0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 MD/RD（本例范围）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clean = 10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MD: main.o → feature.h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clean = 12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C2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上述 MD 仍存在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 = 12；clean = 19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后续 E10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真实增量/全量报告一致性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报告差异与耗时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备查：Linux 原始跟踪证据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读取实际文件操作，尚未实现完整依赖推断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29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在自己的Linux样例副本中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clean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strace -ff -o trace.log \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-e trace=%file,%process make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查看 config.h 相关记录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grep config.h trace.log*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查看 Make 解析的声明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-pn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记录进程、路径和文件访问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区分编译器与构建器的读取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只看到 openat 还不足以直接判 MD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后续 BuildChecker 需构图与归一化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1：准备 DRAFT 样本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README 给出构建与验证的明确目标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30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输入资料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fixtures/draft/main.c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Makefile 与 README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构建：make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验证：./hello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预期结果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标准输出：hello E3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进程退出码为 0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记录所用项目版本与环境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容器内也能通过同一验证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2：保存失败构建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故意缺少工具链的 Dockerfile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31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FROM python:3.13-slim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WORKDIR /work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COPY main.c Makefile ./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RUN make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CMD ["./hello"]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构建文件：Dockerfile.broken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基础镜像里没有 make / C 工具链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预期构建非零退出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日志可定位到 make: not found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失败日志是后续修复方法的输入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3：参考修复与验证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工具链安装后完成相同项目构建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32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RUN apt-get update &amp;&amp; \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apt-get install -y --no-install-recommends \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gcc make libc6-dev &amp;&amp; \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rm -rf /var/lib/apt/lists/*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构建 Dockerfile.reference 后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 run --rm nju-e3-draft-reference:20260906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hello E3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 Dockerfile diff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保存 build 退出码、日志、镜像 ID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容器里验证 hello E3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后续 DRAFT 要自动生成与迭代此过程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4：DRAFT 样本清单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一个案例的资料应能让别人重跑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33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项目项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本实验示例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课程人工样例 Tiny Greeting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源码、README、Makefile、版本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命令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make；./hello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失败候选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Dockerfile.broken 与非零退出日志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参考成功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Dockerfile.reference、日志、镜像 ID、hello E3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5：MDFixer 固定输入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先用已知 MD 验证修复需求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34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给修复器什么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main.o 缺 config.h 的固定报告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同一源码版本的 Makefile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构建命令与行为测试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预期声明风格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现在准备什么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修复前可重现的旧值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参考 Patch 与理由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修复后再次修改头文件的结果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无效候选的拒绝和恢复记录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6：四种声明风格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相同缺失依赖，补丁位置可以不同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35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风格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原声明方式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参考修复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Target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main.o: main.c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直接补 config.h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Macro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main.o: $(DEPS)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 DEPS 中补 config.h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Hybrid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main.c $(HEADERS)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保留直接项，更新头文件宏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Implicit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%.o: %.c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编译生成 .d，再 include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7：Patch 应用与检查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参考补丁只在样例副本中应用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36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cp Makefile.before Makefile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clean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config.h恢复为VALUE 1，构建后改为2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未修复时make后仍输出1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git apply --check reference.patch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git apply reference.patch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clean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再把config.h改成VALUE 3，不clean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./app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预期3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修复前只改头文件仍输出旧值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修复后 clean 输出新值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再改一次头文件应自动重建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不能只靠 clean 成功证明 MD 修好了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8：隐式规则与 .d 文件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由编译器输出头文件依赖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37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%.o: %.c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$(CC) -MMD -MP -c $&lt; -o $@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-include main.d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编译后 main.d 的典型内容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main.o: main.c config.h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-MMD：生成项目头文件依赖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-MP：为头文件生成辅助伪目标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-include：首次缺少 .d 不报错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检查 .d 和再次修改头文件的行为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 组步骤 9：无效候选与恢复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验证失败后不接受该候选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38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3352800"/>
            <a:ext cx="2381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3524250"/>
            <a:ext cx="2114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原始副本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4048125"/>
            <a:ext cx="2114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可构建、可测试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505200" y="3352800"/>
            <a:ext cx="2381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38550" y="3524250"/>
            <a:ext cx="2114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候选修改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38550" y="4048125"/>
            <a:ext cx="2114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故意加入失败命令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05550" y="3352800"/>
            <a:ext cx="2381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438900" y="3524250"/>
            <a:ext cx="2114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验证失败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38900" y="4048125"/>
            <a:ext cx="2114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非零退出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05900" y="3352800"/>
            <a:ext cx="2381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239250" y="3524250"/>
            <a:ext cx="2114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恢复副本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239250" y="4048125"/>
            <a:ext cx="2114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恢复原 Makefile</a:t>
            </a: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构建和测试再次通过</a:t>
            </a:r>
          </a:p>
        </p:txBody>
      </p:sp>
      <p:cxnSp>
        <p:nvCxnSpPr>
          <p:cNvPr id="36" name="直接箭头连接符 35"/>
          <p:cNvCxnSpPr>
            <a:stCxn id="5" idx="3"/>
            <a:endCxn id="8" idx="1"/>
          </p:cNvCxnSpPr>
          <p:nvPr/>
        </p:nvCxnSpPr>
        <p:spPr>
          <a:xfrm>
            <a:off x="3086100" y="4286250"/>
            <a:ext cx="419100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37" name="直接箭头连接符 36"/>
          <p:cNvCxnSpPr>
            <a:stCxn id="8" idx="3"/>
            <a:endCxn id="11" idx="1"/>
          </p:cNvCxnSpPr>
          <p:nvPr/>
        </p:nvCxnSpPr>
        <p:spPr>
          <a:xfrm>
            <a:off x="5886450" y="4286250"/>
            <a:ext cx="419100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38" name="直接箭头连接符 37"/>
          <p:cNvCxnSpPr>
            <a:stCxn id="11" idx="3"/>
            <a:endCxn id="14" idx="1"/>
          </p:cNvCxnSpPr>
          <p:nvPr/>
        </p:nvCxnSpPr>
        <p:spPr>
          <a:xfrm>
            <a:off x="8686800" y="4286250"/>
            <a:ext cx="419100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备查：真实运行记录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本包已验证的样例行为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39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实际观察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漏声明头文件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 1；clean 2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 导致旧产物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冗余声明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unused.h 改动触发 cc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出现多余编译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命令变化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C2 增量 12；clean 19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命令变化未触发普通重建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四种参考修复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再次改头文件输出 3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参考补丁恢复触发关系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 参考样本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失败候选非零；成功输出 hello E3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样本构建与验证可用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备查：后续Linux环境预演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E4环境准备示例，本次不要求开通所有云资源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E3  /  41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 build -f Dockerfile.lab \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-t nju-devops-e3-lab:20260906 .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# 用自己的唯一名称创建容器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 create --name e3-my-run \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--network none --cpus 2 --memory 1g \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nju-devops-e3-lab:20260906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 start -a e3-my-run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 cp e3-my-run:/lab/work ./container-work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在实验包根目录执行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记录镜像ID和工具版本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先取回日志，再清理自己的容器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云端入口和额度按课程通知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1899</Words>
  <Application>Microsoft Office PowerPoint</Application>
  <PresentationFormat>宽屏</PresentationFormat>
  <Paragraphs>570</Paragraphs>
  <Slides>39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3" baseType="lpstr">
      <vt:lpstr>等线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Ethan Wilson</cp:lastModifiedBy>
  <cp:revision>57</cp:revision>
  <dcterms:created xsi:type="dcterms:W3CDTF">2026-09-20T02:04:01Z</dcterms:created>
  <dcterms:modified xsi:type="dcterms:W3CDTF">2026-09-29T13:18:41Z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65526F00FCD86D725981A96A24D0E88E_42</vt:lpwstr>
  </property>
  <property fmtid="{D5CDD505-2E9C-101B-9397-08002B2CF9AE}" pid="3" name="KSOProductBuildVer">
    <vt:lpwstr>2052-6.13.1.8913</vt:lpwstr>
  </property>
</Properties>
</file>